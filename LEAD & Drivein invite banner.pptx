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</p:sldIdLst>
  <p:sldSz cx="18288000" cy="10287000"/>
  <p:notesSz cx="6858000" cy="9144000"/>
  <p:embeddedFontLst>
    <p:embeddedFont>
      <p:font typeface="Calibri" panose="020F0502020204030204" pitchFamily="34" charset="0"/>
      <p:regular r:id="rId4"/>
      <p:bold r:id="rId5"/>
      <p:italic r:id="rId6"/>
      <p:boldItalic r:id="rId7"/>
    </p:embeddedFont>
    <p:embeddedFont>
      <p:font typeface="DM Sans" panose="020B0604020202020204" charset="0"/>
      <p:regular r:id="rId8"/>
    </p:embeddedFont>
    <p:embeddedFont>
      <p:font typeface="DM Sans Bold" panose="020B0604020202020204" charset="0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81" d="100"/>
          <a:sy n="81" d="100"/>
        </p:scale>
        <p:origin x="282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4.fntdata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viewProps" Target="viewProps.xml"/><Relationship Id="rId5" Type="http://schemas.openxmlformats.org/officeDocument/2006/relationships/font" Target="fonts/font2.fntdata"/><Relationship Id="rId10" Type="http://schemas.openxmlformats.org/officeDocument/2006/relationships/presProps" Target="presProps.xml"/><Relationship Id="rId4" Type="http://schemas.openxmlformats.org/officeDocument/2006/relationships/font" Target="fonts/font1.fntdata"/><Relationship Id="rId9" Type="http://schemas.openxmlformats.org/officeDocument/2006/relationships/font" Target="fonts/font6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20/09/2021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20/09/2021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20/09/2021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20/09/2021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20/09/2021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20/09/2021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20/09/2021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20/09/2021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20/09/2021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20/09/2021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20/09/2021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20/09/2021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98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-437049" y="1477871"/>
            <a:ext cx="1283264" cy="1283264"/>
            <a:chOff x="0" y="0"/>
            <a:chExt cx="1708150" cy="17081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08150" cy="1708150"/>
            </a:xfrm>
            <a:custGeom>
              <a:avLst/>
              <a:gdLst/>
              <a:ahLst/>
              <a:cxnLst/>
              <a:rect l="l" t="t" r="r" b="b"/>
              <a:pathLst>
                <a:path w="1708150" h="1708150">
                  <a:moveTo>
                    <a:pt x="853440" y="1708150"/>
                  </a:moveTo>
                  <a:cubicBezTo>
                    <a:pt x="383540" y="1708150"/>
                    <a:pt x="0" y="1324610"/>
                    <a:pt x="0" y="853440"/>
                  </a:cubicBezTo>
                  <a:cubicBezTo>
                    <a:pt x="0" y="383540"/>
                    <a:pt x="383540" y="0"/>
                    <a:pt x="853440" y="0"/>
                  </a:cubicBezTo>
                  <a:cubicBezTo>
                    <a:pt x="1324610" y="0"/>
                    <a:pt x="1706880" y="383540"/>
                    <a:pt x="1706880" y="853440"/>
                  </a:cubicBezTo>
                  <a:cubicBezTo>
                    <a:pt x="1708150" y="1324610"/>
                    <a:pt x="1324610" y="1708150"/>
                    <a:pt x="853440" y="1708150"/>
                  </a:cubicBezTo>
                  <a:close/>
                  <a:moveTo>
                    <a:pt x="853440" y="469900"/>
                  </a:moveTo>
                  <a:cubicBezTo>
                    <a:pt x="642620" y="469900"/>
                    <a:pt x="469900" y="642620"/>
                    <a:pt x="469900" y="853440"/>
                  </a:cubicBezTo>
                  <a:cubicBezTo>
                    <a:pt x="469900" y="1064260"/>
                    <a:pt x="642620" y="1236980"/>
                    <a:pt x="853440" y="1236980"/>
                  </a:cubicBezTo>
                  <a:cubicBezTo>
                    <a:pt x="1064260" y="1236980"/>
                    <a:pt x="1236980" y="1064260"/>
                    <a:pt x="1236980" y="853440"/>
                  </a:cubicBezTo>
                  <a:cubicBezTo>
                    <a:pt x="1236980" y="642620"/>
                    <a:pt x="1065530" y="469900"/>
                    <a:pt x="853440" y="469900"/>
                  </a:cubicBezTo>
                  <a:close/>
                </a:path>
              </a:pathLst>
            </a:custGeom>
            <a:solidFill>
              <a:srgbClr val="DFBF38"/>
            </a:solidFill>
          </p:spPr>
        </p:sp>
      </p:grp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5359518" y="9018433"/>
            <a:ext cx="2237464" cy="2237464"/>
            <a:chOff x="0" y="0"/>
            <a:chExt cx="1708150" cy="17081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708150" cy="1708150"/>
            </a:xfrm>
            <a:custGeom>
              <a:avLst/>
              <a:gdLst/>
              <a:ahLst/>
              <a:cxnLst/>
              <a:rect l="l" t="t" r="r" b="b"/>
              <a:pathLst>
                <a:path w="1708150" h="1708150">
                  <a:moveTo>
                    <a:pt x="853440" y="1708150"/>
                  </a:moveTo>
                  <a:cubicBezTo>
                    <a:pt x="383540" y="1708150"/>
                    <a:pt x="0" y="1324610"/>
                    <a:pt x="0" y="853440"/>
                  </a:cubicBezTo>
                  <a:cubicBezTo>
                    <a:pt x="0" y="383540"/>
                    <a:pt x="383540" y="0"/>
                    <a:pt x="853440" y="0"/>
                  </a:cubicBezTo>
                  <a:cubicBezTo>
                    <a:pt x="1324610" y="0"/>
                    <a:pt x="1706880" y="383540"/>
                    <a:pt x="1706880" y="853440"/>
                  </a:cubicBezTo>
                  <a:cubicBezTo>
                    <a:pt x="1708150" y="1324610"/>
                    <a:pt x="1324610" y="1708150"/>
                    <a:pt x="853440" y="1708150"/>
                  </a:cubicBezTo>
                  <a:close/>
                  <a:moveTo>
                    <a:pt x="853440" y="469900"/>
                  </a:moveTo>
                  <a:cubicBezTo>
                    <a:pt x="642620" y="469900"/>
                    <a:pt x="469900" y="642620"/>
                    <a:pt x="469900" y="853440"/>
                  </a:cubicBezTo>
                  <a:cubicBezTo>
                    <a:pt x="469900" y="1064260"/>
                    <a:pt x="642620" y="1236980"/>
                    <a:pt x="853440" y="1236980"/>
                  </a:cubicBezTo>
                  <a:cubicBezTo>
                    <a:pt x="1064260" y="1236980"/>
                    <a:pt x="1236980" y="1064260"/>
                    <a:pt x="1236980" y="853440"/>
                  </a:cubicBezTo>
                  <a:cubicBezTo>
                    <a:pt x="1236980" y="642620"/>
                    <a:pt x="1065530" y="469900"/>
                    <a:pt x="853440" y="469900"/>
                  </a:cubicBezTo>
                  <a:close/>
                </a:path>
              </a:pathLst>
            </a:custGeom>
            <a:solidFill>
              <a:srgbClr val="DFBF38"/>
            </a:solidFill>
          </p:spPr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69949" y="1850010"/>
            <a:ext cx="6817780" cy="6817780"/>
            <a:chOff x="0" y="0"/>
            <a:chExt cx="1708150" cy="17081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708150" cy="1708150"/>
            </a:xfrm>
            <a:custGeom>
              <a:avLst/>
              <a:gdLst/>
              <a:ahLst/>
              <a:cxnLst/>
              <a:rect l="l" t="t" r="r" b="b"/>
              <a:pathLst>
                <a:path w="1708150" h="1708150">
                  <a:moveTo>
                    <a:pt x="853440" y="1708150"/>
                  </a:moveTo>
                  <a:cubicBezTo>
                    <a:pt x="383540" y="1708150"/>
                    <a:pt x="0" y="1324610"/>
                    <a:pt x="0" y="853440"/>
                  </a:cubicBezTo>
                  <a:cubicBezTo>
                    <a:pt x="0" y="383540"/>
                    <a:pt x="383540" y="0"/>
                    <a:pt x="853440" y="0"/>
                  </a:cubicBezTo>
                  <a:cubicBezTo>
                    <a:pt x="1324610" y="0"/>
                    <a:pt x="1706880" y="383540"/>
                    <a:pt x="1706880" y="853440"/>
                  </a:cubicBezTo>
                  <a:cubicBezTo>
                    <a:pt x="1708150" y="1324610"/>
                    <a:pt x="1324610" y="1708150"/>
                    <a:pt x="853440" y="1708150"/>
                  </a:cubicBezTo>
                  <a:close/>
                  <a:moveTo>
                    <a:pt x="853440" y="469900"/>
                  </a:moveTo>
                  <a:cubicBezTo>
                    <a:pt x="642620" y="469900"/>
                    <a:pt x="469900" y="642620"/>
                    <a:pt x="469900" y="853440"/>
                  </a:cubicBezTo>
                  <a:cubicBezTo>
                    <a:pt x="469900" y="1064260"/>
                    <a:pt x="642620" y="1236980"/>
                    <a:pt x="853440" y="1236980"/>
                  </a:cubicBezTo>
                  <a:cubicBezTo>
                    <a:pt x="1064260" y="1236980"/>
                    <a:pt x="1236980" y="1064260"/>
                    <a:pt x="1236980" y="853440"/>
                  </a:cubicBezTo>
                  <a:cubicBezTo>
                    <a:pt x="1236980" y="642620"/>
                    <a:pt x="1065530" y="469900"/>
                    <a:pt x="853440" y="469900"/>
                  </a:cubicBezTo>
                  <a:close/>
                </a:path>
              </a:pathLst>
            </a:custGeom>
            <a:solidFill>
              <a:srgbClr val="1B60B0"/>
            </a:solidFill>
          </p:spPr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576950" y="2362519"/>
            <a:ext cx="5557782" cy="5557759"/>
            <a:chOff x="0" y="0"/>
            <a:chExt cx="6350000" cy="634997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50000" cy="6349974"/>
            </a:xfrm>
            <a:custGeom>
              <a:avLst/>
              <a:gdLst/>
              <a:ahLst/>
              <a:cxnLst/>
              <a:rect l="l" t="t" r="r" b="b"/>
              <a:pathLst>
                <a:path w="6350000" h="6349974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2"/>
              <a:stretch>
                <a:fillRect l="-24999" r="-24999"/>
              </a:stretch>
            </a:blipFill>
          </p:spPr>
        </p:sp>
      </p:grpSp>
      <p:pic>
        <p:nvPicPr>
          <p:cNvPr id="10" name="Picture 10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11740" y="283622"/>
            <a:ext cx="3882974" cy="805717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4276019" y="385223"/>
            <a:ext cx="3650894" cy="2742734"/>
          </a:xfrm>
          <a:prstGeom prst="rect">
            <a:avLst/>
          </a:prstGeom>
        </p:spPr>
      </p:pic>
      <p:grpSp>
        <p:nvGrpSpPr>
          <p:cNvPr id="12" name="Group 12"/>
          <p:cNvGrpSpPr/>
          <p:nvPr/>
        </p:nvGrpSpPr>
        <p:grpSpPr>
          <a:xfrm>
            <a:off x="7234358" y="2872799"/>
            <a:ext cx="10608919" cy="4783194"/>
            <a:chOff x="0" y="0"/>
            <a:chExt cx="14145225" cy="6377592"/>
          </a:xfrm>
        </p:grpSpPr>
        <p:sp>
          <p:nvSpPr>
            <p:cNvPr id="13" name="TextBox 13"/>
            <p:cNvSpPr txBox="1"/>
            <p:nvPr/>
          </p:nvSpPr>
          <p:spPr>
            <a:xfrm>
              <a:off x="0" y="1646715"/>
              <a:ext cx="14145225" cy="47308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53390" lvl="1" indent="-226695">
                <a:lnSpc>
                  <a:spcPts val="3696"/>
                </a:lnSpc>
                <a:buFont typeface="Arial"/>
                <a:buChar char="•"/>
              </a:pPr>
              <a:r>
                <a:rPr lang="en-US" sz="2099" dirty="0">
                  <a:solidFill>
                    <a:srgbClr val="F4F4F4"/>
                  </a:solidFill>
                  <a:latin typeface="DM Sans"/>
                </a:rPr>
                <a:t>Login to Microsoft Teams 5mins before the session</a:t>
              </a:r>
            </a:p>
            <a:p>
              <a:pPr marL="453390" lvl="1" indent="-226695">
                <a:lnSpc>
                  <a:spcPts val="3696"/>
                </a:lnSpc>
                <a:buFont typeface="Arial"/>
                <a:buChar char="•"/>
              </a:pPr>
              <a:r>
                <a:rPr lang="en-US" sz="2100" dirty="0">
                  <a:solidFill>
                    <a:srgbClr val="F4F4F4"/>
                  </a:solidFill>
                  <a:latin typeface="DM Sans"/>
                </a:rPr>
                <a:t>Ensure you have strong </a:t>
              </a:r>
              <a:r>
                <a:rPr lang="en-US" sz="2100" dirty="0" err="1">
                  <a:solidFill>
                    <a:srgbClr val="F4F4F4"/>
                  </a:solidFill>
                  <a:latin typeface="DM Sans"/>
                </a:rPr>
                <a:t>Wifi</a:t>
              </a:r>
              <a:r>
                <a:rPr lang="en-US" sz="2100" dirty="0">
                  <a:solidFill>
                    <a:srgbClr val="F4F4F4"/>
                  </a:solidFill>
                  <a:latin typeface="DM Sans"/>
                </a:rPr>
                <a:t> connectivity</a:t>
              </a:r>
            </a:p>
            <a:p>
              <a:pPr marL="453390" lvl="1" indent="-226695">
                <a:lnSpc>
                  <a:spcPts val="3696"/>
                </a:lnSpc>
                <a:buFont typeface="Arial"/>
                <a:buChar char="•"/>
              </a:pPr>
              <a:r>
                <a:rPr lang="en-US" sz="2100" dirty="0">
                  <a:solidFill>
                    <a:srgbClr val="F4F4F4"/>
                  </a:solidFill>
                  <a:latin typeface="DM Sans"/>
                </a:rPr>
                <a:t>During the session, mute your mic at all times unless requested by the facilitator.</a:t>
              </a:r>
            </a:p>
            <a:p>
              <a:pPr marL="453390" lvl="1" indent="-226695">
                <a:lnSpc>
                  <a:spcPts val="3696"/>
                </a:lnSpc>
                <a:buFont typeface="Arial"/>
                <a:buChar char="•"/>
              </a:pPr>
              <a:r>
                <a:rPr lang="en-US" sz="2100" dirty="0">
                  <a:solidFill>
                    <a:srgbClr val="F4F4F4"/>
                  </a:solidFill>
                  <a:latin typeface="DM Sans"/>
                </a:rPr>
                <a:t>If you have any question, write them down in the chat bar.</a:t>
              </a:r>
            </a:p>
            <a:p>
              <a:pPr marL="453390" lvl="1" indent="-226695">
                <a:lnSpc>
                  <a:spcPts val="3696"/>
                </a:lnSpc>
                <a:buFont typeface="Arial"/>
                <a:buChar char="•"/>
              </a:pPr>
              <a:r>
                <a:rPr lang="en-US" sz="2100" dirty="0">
                  <a:solidFill>
                    <a:srgbClr val="F4F4F4"/>
                  </a:solidFill>
                  <a:latin typeface="DM Sans"/>
                </a:rPr>
                <a:t>New sessions will be recorded to be stored and used as a learning material.</a:t>
              </a:r>
            </a:p>
            <a:p>
              <a:pPr marL="453390" lvl="1" indent="-226695">
                <a:lnSpc>
                  <a:spcPts val="3696"/>
                </a:lnSpc>
                <a:buFont typeface="Arial"/>
                <a:buChar char="•"/>
              </a:pPr>
              <a:r>
                <a:rPr lang="en-US" sz="2100" dirty="0">
                  <a:solidFill>
                    <a:srgbClr val="F4F4F4"/>
                  </a:solidFill>
                  <a:latin typeface="DM Sans"/>
                </a:rPr>
                <a:t>The minimum requirement for a session is 5 people. If there are less than 5 in the session, it will be cancelled or rescheduled.</a:t>
              </a:r>
            </a:p>
            <a:p>
              <a:pPr>
                <a:lnSpc>
                  <a:spcPts val="2520"/>
                </a:lnSpc>
                <a:spcBef>
                  <a:spcPct val="0"/>
                </a:spcBef>
              </a:pPr>
              <a:endParaRPr lang="en-US" sz="2100" dirty="0">
                <a:solidFill>
                  <a:srgbClr val="F4F4F4"/>
                </a:solidFill>
                <a:latin typeface="DM San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57150"/>
              <a:ext cx="14145225" cy="13860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5031"/>
                </a:lnSpc>
              </a:pPr>
              <a:r>
                <a:rPr lang="en-US" sz="3699" spc="-73" dirty="0">
                  <a:solidFill>
                    <a:srgbClr val="FFD93B"/>
                  </a:solidFill>
                  <a:latin typeface="DM Sans Bold"/>
                </a:rPr>
                <a:t>Things  to note:</a:t>
              </a:r>
            </a:p>
            <a:p>
              <a:pPr marL="0" lvl="0" indent="0">
                <a:lnSpc>
                  <a:spcPts val="3400"/>
                </a:lnSpc>
              </a:pPr>
              <a:r>
                <a:rPr lang="en-US" sz="1400" spc="-28" dirty="0">
                  <a:solidFill>
                    <a:srgbClr val="1B60B0"/>
                  </a:solidFill>
                  <a:latin typeface="DM Sans Bold"/>
                </a:rPr>
                <a:t>For best experience at the session please:</a:t>
              </a:r>
              <a:r>
                <a:rPr lang="en-US" sz="2500" spc="-50" dirty="0">
                  <a:solidFill>
                    <a:srgbClr val="FFD93B"/>
                  </a:solidFill>
                  <a:latin typeface="DM Sans Bold"/>
                </a:rPr>
                <a:t> 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C91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-437049" y="1477871"/>
            <a:ext cx="1283264" cy="1283264"/>
            <a:chOff x="0" y="0"/>
            <a:chExt cx="1708150" cy="17081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08150" cy="1708150"/>
            </a:xfrm>
            <a:custGeom>
              <a:avLst/>
              <a:gdLst/>
              <a:ahLst/>
              <a:cxnLst/>
              <a:rect l="l" t="t" r="r" b="b"/>
              <a:pathLst>
                <a:path w="1708150" h="1708150">
                  <a:moveTo>
                    <a:pt x="853440" y="1708150"/>
                  </a:moveTo>
                  <a:cubicBezTo>
                    <a:pt x="383540" y="1708150"/>
                    <a:pt x="0" y="1324610"/>
                    <a:pt x="0" y="853440"/>
                  </a:cubicBezTo>
                  <a:cubicBezTo>
                    <a:pt x="0" y="383540"/>
                    <a:pt x="383540" y="0"/>
                    <a:pt x="853440" y="0"/>
                  </a:cubicBezTo>
                  <a:cubicBezTo>
                    <a:pt x="1324610" y="0"/>
                    <a:pt x="1706880" y="383540"/>
                    <a:pt x="1706880" y="853440"/>
                  </a:cubicBezTo>
                  <a:cubicBezTo>
                    <a:pt x="1708150" y="1324610"/>
                    <a:pt x="1324610" y="1708150"/>
                    <a:pt x="853440" y="1708150"/>
                  </a:cubicBezTo>
                  <a:close/>
                  <a:moveTo>
                    <a:pt x="853440" y="469900"/>
                  </a:moveTo>
                  <a:cubicBezTo>
                    <a:pt x="642620" y="469900"/>
                    <a:pt x="469900" y="642620"/>
                    <a:pt x="469900" y="853440"/>
                  </a:cubicBezTo>
                  <a:cubicBezTo>
                    <a:pt x="469900" y="1064260"/>
                    <a:pt x="642620" y="1236980"/>
                    <a:pt x="853440" y="1236980"/>
                  </a:cubicBezTo>
                  <a:cubicBezTo>
                    <a:pt x="1064260" y="1236980"/>
                    <a:pt x="1236980" y="1064260"/>
                    <a:pt x="1236980" y="853440"/>
                  </a:cubicBezTo>
                  <a:cubicBezTo>
                    <a:pt x="1236980" y="642620"/>
                    <a:pt x="1065530" y="469900"/>
                    <a:pt x="853440" y="469900"/>
                  </a:cubicBezTo>
                  <a:close/>
                </a:path>
              </a:pathLst>
            </a:custGeom>
            <a:solidFill>
              <a:srgbClr val="DFBF38"/>
            </a:solidFill>
          </p:spPr>
        </p:sp>
      </p:grp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5359518" y="9018433"/>
            <a:ext cx="2237464" cy="2237464"/>
            <a:chOff x="0" y="0"/>
            <a:chExt cx="1708150" cy="17081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708150" cy="1708150"/>
            </a:xfrm>
            <a:custGeom>
              <a:avLst/>
              <a:gdLst/>
              <a:ahLst/>
              <a:cxnLst/>
              <a:rect l="l" t="t" r="r" b="b"/>
              <a:pathLst>
                <a:path w="1708150" h="1708150">
                  <a:moveTo>
                    <a:pt x="853440" y="1708150"/>
                  </a:moveTo>
                  <a:cubicBezTo>
                    <a:pt x="383540" y="1708150"/>
                    <a:pt x="0" y="1324610"/>
                    <a:pt x="0" y="853440"/>
                  </a:cubicBezTo>
                  <a:cubicBezTo>
                    <a:pt x="0" y="383540"/>
                    <a:pt x="383540" y="0"/>
                    <a:pt x="853440" y="0"/>
                  </a:cubicBezTo>
                  <a:cubicBezTo>
                    <a:pt x="1324610" y="0"/>
                    <a:pt x="1706880" y="383540"/>
                    <a:pt x="1706880" y="853440"/>
                  </a:cubicBezTo>
                  <a:cubicBezTo>
                    <a:pt x="1708150" y="1324610"/>
                    <a:pt x="1324610" y="1708150"/>
                    <a:pt x="853440" y="1708150"/>
                  </a:cubicBezTo>
                  <a:close/>
                  <a:moveTo>
                    <a:pt x="853440" y="469900"/>
                  </a:moveTo>
                  <a:cubicBezTo>
                    <a:pt x="642620" y="469900"/>
                    <a:pt x="469900" y="642620"/>
                    <a:pt x="469900" y="853440"/>
                  </a:cubicBezTo>
                  <a:cubicBezTo>
                    <a:pt x="469900" y="1064260"/>
                    <a:pt x="642620" y="1236980"/>
                    <a:pt x="853440" y="1236980"/>
                  </a:cubicBezTo>
                  <a:cubicBezTo>
                    <a:pt x="1064260" y="1236980"/>
                    <a:pt x="1236980" y="1064260"/>
                    <a:pt x="1236980" y="853440"/>
                  </a:cubicBezTo>
                  <a:cubicBezTo>
                    <a:pt x="1236980" y="642620"/>
                    <a:pt x="1065530" y="469900"/>
                    <a:pt x="853440" y="469900"/>
                  </a:cubicBezTo>
                  <a:close/>
                </a:path>
              </a:pathLst>
            </a:custGeom>
            <a:solidFill>
              <a:srgbClr val="DFBF38"/>
            </a:solidFill>
          </p:spPr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69949" y="1850010"/>
            <a:ext cx="6817780" cy="6817780"/>
            <a:chOff x="0" y="0"/>
            <a:chExt cx="1708150" cy="17081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708150" cy="1708150"/>
            </a:xfrm>
            <a:custGeom>
              <a:avLst/>
              <a:gdLst/>
              <a:ahLst/>
              <a:cxnLst/>
              <a:rect l="l" t="t" r="r" b="b"/>
              <a:pathLst>
                <a:path w="1708150" h="1708150">
                  <a:moveTo>
                    <a:pt x="853440" y="1708150"/>
                  </a:moveTo>
                  <a:cubicBezTo>
                    <a:pt x="383540" y="1708150"/>
                    <a:pt x="0" y="1324610"/>
                    <a:pt x="0" y="853440"/>
                  </a:cubicBezTo>
                  <a:cubicBezTo>
                    <a:pt x="0" y="383540"/>
                    <a:pt x="383540" y="0"/>
                    <a:pt x="853440" y="0"/>
                  </a:cubicBezTo>
                  <a:cubicBezTo>
                    <a:pt x="1324610" y="0"/>
                    <a:pt x="1706880" y="383540"/>
                    <a:pt x="1706880" y="853440"/>
                  </a:cubicBezTo>
                  <a:cubicBezTo>
                    <a:pt x="1708150" y="1324610"/>
                    <a:pt x="1324610" y="1708150"/>
                    <a:pt x="853440" y="1708150"/>
                  </a:cubicBezTo>
                  <a:close/>
                  <a:moveTo>
                    <a:pt x="853440" y="469900"/>
                  </a:moveTo>
                  <a:cubicBezTo>
                    <a:pt x="642620" y="469900"/>
                    <a:pt x="469900" y="642620"/>
                    <a:pt x="469900" y="853440"/>
                  </a:cubicBezTo>
                  <a:cubicBezTo>
                    <a:pt x="469900" y="1064260"/>
                    <a:pt x="642620" y="1236980"/>
                    <a:pt x="853440" y="1236980"/>
                  </a:cubicBezTo>
                  <a:cubicBezTo>
                    <a:pt x="1064260" y="1236980"/>
                    <a:pt x="1236980" y="1064260"/>
                    <a:pt x="1236980" y="853440"/>
                  </a:cubicBezTo>
                  <a:cubicBezTo>
                    <a:pt x="1236980" y="642620"/>
                    <a:pt x="1065530" y="469900"/>
                    <a:pt x="853440" y="469900"/>
                  </a:cubicBezTo>
                  <a:close/>
                </a:path>
              </a:pathLst>
            </a:custGeom>
            <a:solidFill>
              <a:srgbClr val="1B60B0"/>
            </a:solidFill>
          </p:spPr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699948" y="2364620"/>
            <a:ext cx="5557782" cy="5557759"/>
            <a:chOff x="0" y="0"/>
            <a:chExt cx="6350000" cy="634997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50000" cy="6349974"/>
            </a:xfrm>
            <a:custGeom>
              <a:avLst/>
              <a:gdLst/>
              <a:ahLst/>
              <a:cxnLst/>
              <a:rect l="l" t="t" r="r" b="b"/>
              <a:pathLst>
                <a:path w="6350000" h="6349974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2"/>
              <a:stretch>
                <a:fillRect l="-49999" r="-49999"/>
              </a:stretch>
            </a:blipFill>
          </p:spPr>
        </p:sp>
      </p:grpSp>
      <p:pic>
        <p:nvPicPr>
          <p:cNvPr id="10" name="Picture 10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11740" y="283622"/>
            <a:ext cx="3882974" cy="805717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3591505" y="269344"/>
            <a:ext cx="4407478" cy="1639992"/>
          </a:xfrm>
          <a:prstGeom prst="rect">
            <a:avLst/>
          </a:prstGeom>
        </p:spPr>
      </p:pic>
      <p:grpSp>
        <p:nvGrpSpPr>
          <p:cNvPr id="12" name="Group 12"/>
          <p:cNvGrpSpPr/>
          <p:nvPr/>
        </p:nvGrpSpPr>
        <p:grpSpPr>
          <a:xfrm>
            <a:off x="7234358" y="2872799"/>
            <a:ext cx="10608919" cy="4783194"/>
            <a:chOff x="0" y="0"/>
            <a:chExt cx="14145225" cy="6377592"/>
          </a:xfrm>
        </p:grpSpPr>
        <p:sp>
          <p:nvSpPr>
            <p:cNvPr id="13" name="TextBox 13"/>
            <p:cNvSpPr txBox="1"/>
            <p:nvPr/>
          </p:nvSpPr>
          <p:spPr>
            <a:xfrm>
              <a:off x="0" y="1646715"/>
              <a:ext cx="14145225" cy="47308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53390" lvl="1" indent="-226695">
                <a:lnSpc>
                  <a:spcPts val="3696"/>
                </a:lnSpc>
                <a:buFont typeface="Arial"/>
                <a:buChar char="•"/>
              </a:pPr>
              <a:r>
                <a:rPr lang="en-US" sz="2099" dirty="0">
                  <a:solidFill>
                    <a:srgbClr val="F4F4F4"/>
                  </a:solidFill>
                  <a:latin typeface="DM Sans"/>
                </a:rPr>
                <a:t>Login to Microsoft Teams 5mins before the session</a:t>
              </a:r>
            </a:p>
            <a:p>
              <a:pPr marL="453390" lvl="1" indent="-226695">
                <a:lnSpc>
                  <a:spcPts val="3696"/>
                </a:lnSpc>
                <a:buFont typeface="Arial"/>
                <a:buChar char="•"/>
              </a:pPr>
              <a:r>
                <a:rPr lang="en-US" sz="2100" dirty="0">
                  <a:solidFill>
                    <a:srgbClr val="F4F4F4"/>
                  </a:solidFill>
                  <a:latin typeface="DM Sans"/>
                </a:rPr>
                <a:t>Ensure you have strong </a:t>
              </a:r>
              <a:r>
                <a:rPr lang="en-US" sz="2100" dirty="0" err="1">
                  <a:solidFill>
                    <a:srgbClr val="F4F4F4"/>
                  </a:solidFill>
                  <a:latin typeface="DM Sans"/>
                </a:rPr>
                <a:t>Wifi</a:t>
              </a:r>
              <a:r>
                <a:rPr lang="en-US" sz="2100" dirty="0">
                  <a:solidFill>
                    <a:srgbClr val="F4F4F4"/>
                  </a:solidFill>
                  <a:latin typeface="DM Sans"/>
                </a:rPr>
                <a:t> connectivity</a:t>
              </a:r>
            </a:p>
            <a:p>
              <a:pPr marL="453390" lvl="1" indent="-226695">
                <a:lnSpc>
                  <a:spcPts val="3696"/>
                </a:lnSpc>
                <a:buFont typeface="Arial"/>
                <a:buChar char="•"/>
              </a:pPr>
              <a:r>
                <a:rPr lang="en-US" sz="2100" dirty="0">
                  <a:solidFill>
                    <a:srgbClr val="F4F4F4"/>
                  </a:solidFill>
                  <a:latin typeface="DM Sans"/>
                </a:rPr>
                <a:t>During the session, mute your mic at all times unless requested by the facilitator.</a:t>
              </a:r>
            </a:p>
            <a:p>
              <a:pPr marL="453390" lvl="1" indent="-226695">
                <a:lnSpc>
                  <a:spcPts val="3696"/>
                </a:lnSpc>
                <a:buFont typeface="Arial"/>
                <a:buChar char="•"/>
              </a:pPr>
              <a:r>
                <a:rPr lang="en-US" sz="2100" dirty="0">
                  <a:solidFill>
                    <a:srgbClr val="F4F4F4"/>
                  </a:solidFill>
                  <a:latin typeface="DM Sans"/>
                </a:rPr>
                <a:t>If you have any question, write them down in the chat bar.</a:t>
              </a:r>
            </a:p>
            <a:p>
              <a:pPr marL="453390" lvl="1" indent="-226695">
                <a:lnSpc>
                  <a:spcPts val="3696"/>
                </a:lnSpc>
                <a:buFont typeface="Arial"/>
                <a:buChar char="•"/>
              </a:pPr>
              <a:r>
                <a:rPr lang="en-US" sz="2100" dirty="0">
                  <a:solidFill>
                    <a:srgbClr val="F4F4F4"/>
                  </a:solidFill>
                  <a:latin typeface="DM Sans"/>
                </a:rPr>
                <a:t>New sessions will be recorded to be stored and used as a learning material.</a:t>
              </a:r>
            </a:p>
            <a:p>
              <a:pPr marL="453390" lvl="1" indent="-226695">
                <a:lnSpc>
                  <a:spcPts val="3696"/>
                </a:lnSpc>
                <a:buFont typeface="Arial"/>
                <a:buChar char="•"/>
              </a:pPr>
              <a:r>
                <a:rPr lang="en-US" sz="2100" dirty="0">
                  <a:solidFill>
                    <a:srgbClr val="F4F4F4"/>
                  </a:solidFill>
                  <a:latin typeface="DM Sans"/>
                </a:rPr>
                <a:t>The minimum requirement for a session is 5 people. If there are less than 5 in the session, it will be cancelled or rescheduled.</a:t>
              </a:r>
            </a:p>
            <a:p>
              <a:pPr>
                <a:lnSpc>
                  <a:spcPts val="2520"/>
                </a:lnSpc>
                <a:spcBef>
                  <a:spcPct val="0"/>
                </a:spcBef>
              </a:pPr>
              <a:endParaRPr lang="en-US" sz="2100" dirty="0">
                <a:solidFill>
                  <a:srgbClr val="F4F4F4"/>
                </a:solidFill>
                <a:latin typeface="DM San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57150"/>
              <a:ext cx="14145225" cy="13860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5031"/>
                </a:lnSpc>
              </a:pPr>
              <a:r>
                <a:rPr lang="en-US" sz="3699" spc="-73" dirty="0">
                  <a:solidFill>
                    <a:srgbClr val="FFD93B"/>
                  </a:solidFill>
                  <a:latin typeface="DM Sans Bold"/>
                </a:rPr>
                <a:t>Things  to note:</a:t>
              </a:r>
            </a:p>
            <a:p>
              <a:pPr marL="0" lvl="0" indent="0">
                <a:lnSpc>
                  <a:spcPts val="3400"/>
                </a:lnSpc>
              </a:pPr>
              <a:r>
                <a:rPr lang="en-US" sz="1400" spc="-28" dirty="0">
                  <a:solidFill>
                    <a:srgbClr val="1B60B0"/>
                  </a:solidFill>
                  <a:latin typeface="DM Sans Bold"/>
                </a:rPr>
                <a:t>For best experience at the session please:</a:t>
              </a:r>
              <a:r>
                <a:rPr lang="en-US" sz="2500" spc="-50" dirty="0">
                  <a:solidFill>
                    <a:srgbClr val="FFD93B"/>
                  </a:solidFill>
                  <a:latin typeface="DM Sans Bold"/>
                </a:rPr>
                <a:t> 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196</Words>
  <Application>Microsoft Office PowerPoint</Application>
  <PresentationFormat>Custom</PresentationFormat>
  <Paragraphs>16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DM Sans</vt:lpstr>
      <vt:lpstr>DM Sans Bold</vt:lpstr>
      <vt:lpstr>Calibri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Thank you for registering on to the Using NLP Skills for Enhancing Your Communication – 90-minute live and interactive workshop on Monday 17th May from 13.00 until 14.30. Dubai Time.</dc:title>
  <cp:lastModifiedBy>Ellen Sulit</cp:lastModifiedBy>
  <cp:revision>1</cp:revision>
  <dcterms:created xsi:type="dcterms:W3CDTF">2006-08-16T00:00:00Z</dcterms:created>
  <dcterms:modified xsi:type="dcterms:W3CDTF">2021-09-20T04:53:05Z</dcterms:modified>
  <dc:identifier>DAEdZGamsUo</dc:identifier>
</cp:coreProperties>
</file>