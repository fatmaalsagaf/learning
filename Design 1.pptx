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</p:sldIdLst>
  <p:sldSz cx="7556500" cy="10693400"/>
  <p:notesSz cx="6858000" cy="9144000"/>
  <p:embeddedFontLst>
    <p:embeddedFont>
      <p:font typeface="Libre Baskerville" panose="020B0604020202020204" charset="0"/>
      <p:regular r:id="rId4"/>
    </p:embeddedFont>
    <p:embeddedFont>
      <p:font typeface="Libre Baskerville Italics" panose="020B0604020202020204" charset="0"/>
      <p:regular r:id="rId5"/>
    </p:embeddedFont>
    <p:embeddedFont>
      <p:font typeface="Open Sans Bold" panose="020B0604020202020204" charset="0"/>
      <p:regular r:id="rId6"/>
    </p:embeddedFont>
    <p:embeddedFont>
      <p:font typeface="Open Sans Extra Bold" panose="020B0604020202020204" charset="0"/>
      <p:regular r:id="rId7"/>
    </p:embeddedFont>
    <p:embeddedFont>
      <p:font typeface="Libre Baskerville Bold" panose="020B0604020202020204" charset="0"/>
      <p:regular r:id="rId8"/>
    </p:embeddedFont>
    <p:embeddedFont>
      <p:font typeface="Arial Unicode MS" panose="020B0604020202020204" pitchFamily="34" charset="-128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26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8 Top Tips on Becoming a Successful Business Leader">
            <a:extLst>
              <a:ext uri="{FF2B5EF4-FFF2-40B4-BE49-F238E27FC236}">
                <a16:creationId xmlns:a16="http://schemas.microsoft.com/office/drawing/2014/main" id="{16F1B7E0-162A-4ED0-86D7-4F4A7F0AC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9" t="100" r="33115" b="15919"/>
          <a:stretch/>
        </p:blipFill>
        <p:spPr bwMode="auto">
          <a:xfrm>
            <a:off x="-107950" y="0"/>
            <a:ext cx="7696200" cy="1069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4"/>
          <p:cNvSpPr txBox="1"/>
          <p:nvPr/>
        </p:nvSpPr>
        <p:spPr>
          <a:xfrm>
            <a:off x="5911850" y="-343544"/>
            <a:ext cx="1257638" cy="11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4"/>
              </a:lnSpc>
            </a:pPr>
            <a:r>
              <a:rPr lang="en-US" sz="1000" spc="158" dirty="0" smtClean="0">
                <a:solidFill>
                  <a:srgbClr val="FFFFFF"/>
                </a:solidFill>
                <a:latin typeface="Libre Baskerville Bold"/>
              </a:rPr>
              <a:t>Volume 1</a:t>
            </a:r>
            <a:endParaRPr lang="en-US" sz="1000" spc="158" dirty="0">
              <a:solidFill>
                <a:srgbClr val="FFFFFF"/>
              </a:solidFill>
              <a:latin typeface="Libre Baskerville Bold"/>
            </a:endParaRPr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A79BE43E-9E9B-4D21-BCD0-B2E58D5ACD39}"/>
              </a:ext>
            </a:extLst>
          </p:cNvPr>
          <p:cNvSpPr/>
          <p:nvPr/>
        </p:nvSpPr>
        <p:spPr>
          <a:xfrm rot="2691933">
            <a:off x="1081817" y="1154568"/>
            <a:ext cx="308134" cy="230864"/>
          </a:xfrm>
          <a:custGeom>
            <a:avLst/>
            <a:gdLst>
              <a:gd name="connsiteX0" fmla="*/ 287789 w 1133754"/>
              <a:gd name="connsiteY0" fmla="*/ 276913 h 1110768"/>
              <a:gd name="connsiteX1" fmla="*/ 284644 w 1133754"/>
              <a:gd name="connsiteY1" fmla="*/ 514776 h 1110768"/>
              <a:gd name="connsiteX2" fmla="*/ 532527 w 1133754"/>
              <a:gd name="connsiteY2" fmla="*/ 514669 h 1110768"/>
              <a:gd name="connsiteX3" fmla="*/ 533735 w 1133754"/>
              <a:gd name="connsiteY3" fmla="*/ 276913 h 1110768"/>
              <a:gd name="connsiteX4" fmla="*/ 10924 w 1133754"/>
              <a:gd name="connsiteY4" fmla="*/ 124 h 1110768"/>
              <a:gd name="connsiteX5" fmla="*/ 14635 w 1133754"/>
              <a:gd name="connsiteY5" fmla="*/ 124 h 1110768"/>
              <a:gd name="connsiteX6" fmla="*/ 14637 w 1133754"/>
              <a:gd name="connsiteY6" fmla="*/ 0 h 1110768"/>
              <a:gd name="connsiteX7" fmla="*/ 24033 w 1133754"/>
              <a:gd name="connsiteY7" fmla="*/ 124 h 1110768"/>
              <a:gd name="connsiteX8" fmla="*/ 1118130 w 1133754"/>
              <a:gd name="connsiteY8" fmla="*/ 124 h 1110768"/>
              <a:gd name="connsiteX9" fmla="*/ 1118130 w 1133754"/>
              <a:gd name="connsiteY9" fmla="*/ 276913 h 1110768"/>
              <a:gd name="connsiteX10" fmla="*/ 810527 w 1133754"/>
              <a:gd name="connsiteY10" fmla="*/ 276913 h 1110768"/>
              <a:gd name="connsiteX11" fmla="*/ 809320 w 1133754"/>
              <a:gd name="connsiteY11" fmla="*/ 514550 h 1110768"/>
              <a:gd name="connsiteX12" fmla="*/ 1133634 w 1133754"/>
              <a:gd name="connsiteY12" fmla="*/ 514409 h 1110768"/>
              <a:gd name="connsiteX13" fmla="*/ 1133754 w 1133754"/>
              <a:gd name="connsiteY13" fmla="*/ 791198 h 1110768"/>
              <a:gd name="connsiteX14" fmla="*/ 807914 w 1133754"/>
              <a:gd name="connsiteY14" fmla="*/ 791339 h 1110768"/>
              <a:gd name="connsiteX15" fmla="*/ 806294 w 1133754"/>
              <a:gd name="connsiteY15" fmla="*/ 1110344 h 1110768"/>
              <a:gd name="connsiteX16" fmla="*/ 529508 w 1133754"/>
              <a:gd name="connsiteY16" fmla="*/ 1108938 h 1110768"/>
              <a:gd name="connsiteX17" fmla="*/ 531121 w 1133754"/>
              <a:gd name="connsiteY17" fmla="*/ 791459 h 1110768"/>
              <a:gd name="connsiteX18" fmla="*/ 280985 w 1133754"/>
              <a:gd name="connsiteY18" fmla="*/ 791567 h 1110768"/>
              <a:gd name="connsiteX19" fmla="*/ 276765 w 1133754"/>
              <a:gd name="connsiteY19" fmla="*/ 1110768 h 1110768"/>
              <a:gd name="connsiteX20" fmla="*/ 0 w 1133754"/>
              <a:gd name="connsiteY20" fmla="*/ 1107109 h 1110768"/>
              <a:gd name="connsiteX21" fmla="*/ 10976 w 1133754"/>
              <a:gd name="connsiteY21" fmla="*/ 276913 h 1110768"/>
              <a:gd name="connsiteX22" fmla="*/ 10924 w 1133754"/>
              <a:gd name="connsiteY22" fmla="*/ 276913 h 111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33754" h="1110768">
                <a:moveTo>
                  <a:pt x="287789" y="276913"/>
                </a:moveTo>
                <a:lnTo>
                  <a:pt x="284644" y="514776"/>
                </a:lnTo>
                <a:lnTo>
                  <a:pt x="532527" y="514669"/>
                </a:lnTo>
                <a:lnTo>
                  <a:pt x="533735" y="276913"/>
                </a:lnTo>
                <a:close/>
                <a:moveTo>
                  <a:pt x="10924" y="124"/>
                </a:moveTo>
                <a:lnTo>
                  <a:pt x="14635" y="124"/>
                </a:lnTo>
                <a:lnTo>
                  <a:pt x="14637" y="0"/>
                </a:lnTo>
                <a:lnTo>
                  <a:pt x="24033" y="124"/>
                </a:lnTo>
                <a:lnTo>
                  <a:pt x="1118130" y="124"/>
                </a:lnTo>
                <a:lnTo>
                  <a:pt x="1118130" y="276913"/>
                </a:lnTo>
                <a:lnTo>
                  <a:pt x="810527" y="276913"/>
                </a:lnTo>
                <a:lnTo>
                  <a:pt x="809320" y="514550"/>
                </a:lnTo>
                <a:lnTo>
                  <a:pt x="1133634" y="514409"/>
                </a:lnTo>
                <a:lnTo>
                  <a:pt x="1133754" y="791198"/>
                </a:lnTo>
                <a:lnTo>
                  <a:pt x="807914" y="791339"/>
                </a:lnTo>
                <a:lnTo>
                  <a:pt x="806294" y="1110344"/>
                </a:lnTo>
                <a:lnTo>
                  <a:pt x="529508" y="1108938"/>
                </a:lnTo>
                <a:lnTo>
                  <a:pt x="531121" y="791459"/>
                </a:lnTo>
                <a:lnTo>
                  <a:pt x="280985" y="791567"/>
                </a:lnTo>
                <a:lnTo>
                  <a:pt x="276765" y="1110768"/>
                </a:lnTo>
                <a:lnTo>
                  <a:pt x="0" y="1107109"/>
                </a:lnTo>
                <a:lnTo>
                  <a:pt x="10976" y="276913"/>
                </a:lnTo>
                <a:lnTo>
                  <a:pt x="10924" y="276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  <a:scene3d>
            <a:camera prst="perspectiveHeroicExtremeLeftFacing"/>
            <a:lightRig rig="threePt" dir="t"/>
          </a:scene3d>
          <a:sp3d>
            <a:bevelT w="12700" h="508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273050" y="183384"/>
            <a:ext cx="6896438" cy="10104259"/>
          </a:xfrm>
          <a:prstGeom prst="rect">
            <a:avLst/>
          </a:prstGeom>
          <a:solidFill>
            <a:schemeClr val="dk1">
              <a:alpha val="53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895860" y="982052"/>
            <a:ext cx="5753438" cy="404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544"/>
              </a:lnSpc>
            </a:pPr>
            <a:r>
              <a:rPr lang="en-US" sz="6000" b="1" dirty="0" smtClean="0">
                <a:ln w="3810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INSIDE LEAD</a:t>
            </a:r>
          </a:p>
        </p:txBody>
      </p:sp>
      <p:sp>
        <p:nvSpPr>
          <p:cNvPr id="25" name="TextBox 9"/>
          <p:cNvSpPr txBox="1"/>
          <p:nvPr/>
        </p:nvSpPr>
        <p:spPr>
          <a:xfrm>
            <a:off x="4234771" y="9976435"/>
            <a:ext cx="2925971" cy="19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4"/>
              </a:lnSpc>
            </a:pPr>
            <a:r>
              <a:rPr lang="en-US" sz="1600" b="1" dirty="0" smtClean="0">
                <a:solidFill>
                  <a:schemeClr val="bg1"/>
                </a:solidFill>
              </a:rPr>
              <a:t>Learn. Engage. Act. Deliver</a:t>
            </a:r>
            <a:endParaRPr lang="en-US" sz="1100" spc="176" dirty="0">
              <a:solidFill>
                <a:schemeClr val="bg1"/>
              </a:solidFill>
              <a:latin typeface="Libre Baskerville Italics"/>
            </a:endParaRPr>
          </a:p>
        </p:txBody>
      </p:sp>
      <p:sp>
        <p:nvSpPr>
          <p:cNvPr id="26" name="AutoShape 8"/>
          <p:cNvSpPr/>
          <p:nvPr/>
        </p:nvSpPr>
        <p:spPr>
          <a:xfrm>
            <a:off x="3625850" y="2576724"/>
            <a:ext cx="3283858" cy="7265776"/>
          </a:xfrm>
          <a:prstGeom prst="rect">
            <a:avLst/>
          </a:prstGeom>
          <a:solidFill>
            <a:srgbClr val="D9D9D9">
              <a:alpha val="74901"/>
            </a:srgbClr>
          </a:solidFill>
        </p:spPr>
      </p:sp>
      <p:sp>
        <p:nvSpPr>
          <p:cNvPr id="27" name="TextBox 18"/>
          <p:cNvSpPr txBox="1"/>
          <p:nvPr/>
        </p:nvSpPr>
        <p:spPr>
          <a:xfrm>
            <a:off x="800671" y="2891666"/>
            <a:ext cx="263467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b="1" dirty="0" smtClean="0">
                <a:solidFill>
                  <a:schemeClr val="bg1"/>
                </a:solidFill>
                <a:latin typeface="Open Sans Extra Bold"/>
              </a:rPr>
              <a:t>What’s New!</a:t>
            </a:r>
            <a:endParaRPr lang="en-US" sz="2800" b="1" dirty="0">
              <a:solidFill>
                <a:schemeClr val="bg1"/>
              </a:solidFill>
              <a:latin typeface="Open Sans Extra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162" y="1319764"/>
            <a:ext cx="61325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LEAD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Your one </a:t>
            </a:r>
            <a:r>
              <a:rPr lang="en-US" dirty="0" smtClean="0">
                <a:solidFill>
                  <a:schemeClr val="bg1"/>
                </a:solidFill>
              </a:rPr>
              <a:t>stop, for </a:t>
            </a:r>
            <a:r>
              <a:rPr lang="en-US" dirty="0">
                <a:solidFill>
                  <a:schemeClr val="bg1"/>
                </a:solidFill>
              </a:rPr>
              <a:t>all the essential tips and tricks of being </a:t>
            </a:r>
            <a:r>
              <a:rPr lang="en-US" dirty="0" smtClean="0">
                <a:solidFill>
                  <a:schemeClr val="bg1"/>
                </a:solidFill>
              </a:rPr>
              <a:t>a great </a:t>
            </a:r>
            <a:r>
              <a:rPr lang="en-US" dirty="0">
                <a:solidFill>
                  <a:schemeClr val="bg1"/>
                </a:solidFill>
              </a:rPr>
              <a:t>Leader!</a:t>
            </a:r>
          </a:p>
          <a:p>
            <a:endParaRPr lang="en-US" dirty="0"/>
          </a:p>
        </p:txBody>
      </p:sp>
      <p:sp>
        <p:nvSpPr>
          <p:cNvPr id="32" name="TextBox 20"/>
          <p:cNvSpPr txBox="1"/>
          <p:nvPr/>
        </p:nvSpPr>
        <p:spPr>
          <a:xfrm>
            <a:off x="3934573" y="2925683"/>
            <a:ext cx="2666411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dirty="0" smtClean="0">
                <a:solidFill>
                  <a:schemeClr val="tx2">
                    <a:lumMod val="75000"/>
                  </a:schemeClr>
                </a:solidFill>
                <a:latin typeface="Open Sans Extra Bold"/>
              </a:rPr>
              <a:t>LEAD</a:t>
            </a:r>
            <a:r>
              <a:rPr lang="en-US" sz="2100" dirty="0" smtClean="0">
                <a:solidFill>
                  <a:schemeClr val="tx2">
                    <a:lumMod val="75000"/>
                  </a:schemeClr>
                </a:solidFill>
                <a:latin typeface="Open Sans Extra Bold"/>
              </a:rPr>
              <a:t> Live Sessions</a:t>
            </a:r>
            <a:endParaRPr lang="en-US" sz="2100" dirty="0">
              <a:solidFill>
                <a:schemeClr val="tx2">
                  <a:lumMod val="75000"/>
                </a:schemeClr>
              </a:solidFill>
              <a:latin typeface="Open Sans Extra Bold"/>
            </a:endParaRPr>
          </a:p>
        </p:txBody>
      </p:sp>
      <p:sp>
        <p:nvSpPr>
          <p:cNvPr id="33" name="TextBox 20"/>
          <p:cNvSpPr txBox="1"/>
          <p:nvPr/>
        </p:nvSpPr>
        <p:spPr>
          <a:xfrm>
            <a:off x="4000260" y="7290554"/>
            <a:ext cx="2666411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dirty="0" smtClean="0">
                <a:solidFill>
                  <a:schemeClr val="tx2">
                    <a:lumMod val="75000"/>
                  </a:schemeClr>
                </a:solidFill>
                <a:latin typeface="Open Sans Extra Bold"/>
              </a:rPr>
              <a:t>MINT</a:t>
            </a:r>
            <a:r>
              <a:rPr lang="en-US" sz="2100" dirty="0" smtClean="0">
                <a:solidFill>
                  <a:schemeClr val="tx2">
                    <a:lumMod val="75000"/>
                  </a:schemeClr>
                </a:solidFill>
                <a:latin typeface="Open Sans Extra Bold"/>
              </a:rPr>
              <a:t> Live Sessions</a:t>
            </a:r>
            <a:endParaRPr lang="en-US" sz="2100" dirty="0">
              <a:solidFill>
                <a:schemeClr val="tx2">
                  <a:lumMod val="75000"/>
                </a:schemeClr>
              </a:solidFill>
              <a:latin typeface="Open Sans Extra Bold"/>
            </a:endParaRPr>
          </a:p>
        </p:txBody>
      </p:sp>
      <p:grpSp>
        <p:nvGrpSpPr>
          <p:cNvPr id="35" name="Group 9"/>
          <p:cNvGrpSpPr/>
          <p:nvPr/>
        </p:nvGrpSpPr>
        <p:grpSpPr>
          <a:xfrm>
            <a:off x="4230009" y="8775700"/>
            <a:ext cx="2086219" cy="505046"/>
            <a:chOff x="0" y="0"/>
            <a:chExt cx="3743134" cy="1342562"/>
          </a:xfrm>
        </p:grpSpPr>
        <p:sp>
          <p:nvSpPr>
            <p:cNvPr id="36" name="Freeform 10"/>
            <p:cNvSpPr/>
            <p:nvPr/>
          </p:nvSpPr>
          <p:spPr>
            <a:xfrm>
              <a:off x="0" y="0"/>
              <a:ext cx="3743134" cy="1342562"/>
            </a:xfrm>
            <a:custGeom>
              <a:avLst/>
              <a:gdLst/>
              <a:ahLst/>
              <a:cxnLst/>
              <a:rect l="l" t="t" r="r" b="b"/>
              <a:pathLst>
                <a:path w="3743134" h="1342562">
                  <a:moveTo>
                    <a:pt x="0" y="0"/>
                  </a:moveTo>
                  <a:lnTo>
                    <a:pt x="3743134" y="0"/>
                  </a:lnTo>
                  <a:lnTo>
                    <a:pt x="3743134" y="1342562"/>
                  </a:lnTo>
                  <a:lnTo>
                    <a:pt x="0" y="1342562"/>
                  </a:lnTo>
                  <a:close/>
                </a:path>
              </a:pathLst>
            </a:custGeom>
            <a:solidFill>
              <a:srgbClr val="157AA8">
                <a:alpha val="82745"/>
              </a:srgbClr>
            </a:solidFill>
          </p:spPr>
        </p:sp>
      </p:grpSp>
      <p:sp>
        <p:nvSpPr>
          <p:cNvPr id="44" name="TextBox 17"/>
          <p:cNvSpPr txBox="1"/>
          <p:nvPr/>
        </p:nvSpPr>
        <p:spPr>
          <a:xfrm>
            <a:off x="4321155" y="8811541"/>
            <a:ext cx="1813854" cy="345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dirty="0">
                <a:solidFill>
                  <a:srgbClr val="FFFFFF"/>
                </a:solidFill>
                <a:latin typeface="Open Sans Bold"/>
              </a:rPr>
              <a:t>Register Me!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16214" y="35641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866764" y="4358351"/>
            <a:ext cx="28470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Mastering Motivation for Self and </a:t>
            </a:r>
            <a:r>
              <a:rPr lang="en-US" b="1" dirty="0" smtClean="0"/>
              <a:t>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Art of </a:t>
            </a:r>
            <a:r>
              <a:rPr lang="en-US" b="1" dirty="0" smtClean="0"/>
              <a:t>Delegation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Leadership Styles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6764" y="3412467"/>
            <a:ext cx="2802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</a:t>
            </a:r>
            <a:r>
              <a:rPr lang="en-US" sz="1600" dirty="0" smtClean="0"/>
              <a:t>cheduled sessions in October. Click on register Me, to choose your preferred session</a:t>
            </a:r>
            <a:endParaRPr lang="en-US" sz="1600" dirty="0"/>
          </a:p>
        </p:txBody>
      </p:sp>
      <p:grpSp>
        <p:nvGrpSpPr>
          <p:cNvPr id="50" name="Group 9"/>
          <p:cNvGrpSpPr/>
          <p:nvPr/>
        </p:nvGrpSpPr>
        <p:grpSpPr>
          <a:xfrm>
            <a:off x="4201190" y="6337300"/>
            <a:ext cx="2086219" cy="505046"/>
            <a:chOff x="0" y="0"/>
            <a:chExt cx="3743134" cy="1342562"/>
          </a:xfrm>
        </p:grpSpPr>
        <p:sp>
          <p:nvSpPr>
            <p:cNvPr id="51" name="Freeform 10"/>
            <p:cNvSpPr/>
            <p:nvPr/>
          </p:nvSpPr>
          <p:spPr>
            <a:xfrm>
              <a:off x="0" y="0"/>
              <a:ext cx="3743134" cy="1342562"/>
            </a:xfrm>
            <a:custGeom>
              <a:avLst/>
              <a:gdLst/>
              <a:ahLst/>
              <a:cxnLst/>
              <a:rect l="l" t="t" r="r" b="b"/>
              <a:pathLst>
                <a:path w="3743134" h="1342562">
                  <a:moveTo>
                    <a:pt x="0" y="0"/>
                  </a:moveTo>
                  <a:lnTo>
                    <a:pt x="3743134" y="0"/>
                  </a:lnTo>
                  <a:lnTo>
                    <a:pt x="3743134" y="1342562"/>
                  </a:lnTo>
                  <a:lnTo>
                    <a:pt x="0" y="1342562"/>
                  </a:lnTo>
                  <a:close/>
                </a:path>
              </a:pathLst>
            </a:custGeom>
            <a:solidFill>
              <a:srgbClr val="157AA8">
                <a:alpha val="82745"/>
              </a:srgbClr>
            </a:solidFill>
          </p:spPr>
        </p:sp>
      </p:grpSp>
      <p:sp>
        <p:nvSpPr>
          <p:cNvPr id="52" name="TextBox 17"/>
          <p:cNvSpPr txBox="1"/>
          <p:nvPr/>
        </p:nvSpPr>
        <p:spPr>
          <a:xfrm>
            <a:off x="4292336" y="6373141"/>
            <a:ext cx="1813854" cy="345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dirty="0">
                <a:solidFill>
                  <a:srgbClr val="FFFFFF"/>
                </a:solidFill>
                <a:latin typeface="Open Sans Bold"/>
              </a:rPr>
              <a:t>Register Me!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233" y="3581062"/>
            <a:ext cx="1902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dsdsdfsdfsdfsdfsdfsdfsdfsdfsdfsdfsdfsdfsds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88943" y="6825182"/>
            <a:ext cx="20268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dsdsdfsdfsdfsdfsdfsdfsdfsdfsdfsdfsdfsdfsds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9" name="TextBox 18"/>
          <p:cNvSpPr txBox="1"/>
          <p:nvPr/>
        </p:nvSpPr>
        <p:spPr>
          <a:xfrm>
            <a:off x="844189" y="6019760"/>
            <a:ext cx="2634679" cy="3718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800" b="1" dirty="0" smtClean="0">
                <a:solidFill>
                  <a:schemeClr val="bg1"/>
                </a:solidFill>
                <a:latin typeface="Open Sans Extra Bold"/>
              </a:rPr>
              <a:t>Coming Soon..</a:t>
            </a:r>
            <a:endParaRPr lang="en-US" sz="2800" b="1" dirty="0">
              <a:solidFill>
                <a:schemeClr val="bg1"/>
              </a:solidFill>
              <a:latin typeface="Open San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95701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23" y="556848"/>
            <a:ext cx="7556500" cy="287574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-253407" y="215528"/>
            <a:ext cx="2728698" cy="181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4"/>
              </a:lnSpc>
            </a:pPr>
            <a:r>
              <a:rPr lang="en-US" sz="1103" spc="176" dirty="0" smtClean="0">
                <a:latin typeface="Libre Baskerville Italics"/>
              </a:rPr>
              <a:t>Monthly </a:t>
            </a:r>
            <a:r>
              <a:rPr lang="en-US" sz="1103" spc="176" dirty="0">
                <a:latin typeface="Libre Baskerville Italics"/>
              </a:rPr>
              <a:t>Newsletter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2458" y="249215"/>
            <a:ext cx="1257638" cy="102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94"/>
              </a:lnSpc>
            </a:pPr>
            <a:r>
              <a:rPr lang="en-US" sz="661" spc="119" dirty="0">
                <a:latin typeface="Libre Baskerville Bold"/>
              </a:rPr>
              <a:t>September 2019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12116" y="3144606"/>
            <a:ext cx="2925971" cy="192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44"/>
              </a:lnSpc>
            </a:pPr>
            <a:r>
              <a:rPr lang="en-US" b="1" dirty="0" smtClean="0">
                <a:solidFill>
                  <a:schemeClr val="bg1"/>
                </a:solidFill>
              </a:rPr>
              <a:t>Learn. Engage. Act. Deliver</a:t>
            </a:r>
            <a:endParaRPr lang="en-US" sz="1103" spc="176" dirty="0">
              <a:solidFill>
                <a:schemeClr val="bg1"/>
              </a:solidFill>
              <a:latin typeface="Libre Baskerville Itali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366677" y="5897758"/>
            <a:ext cx="2076864" cy="1527069"/>
            <a:chOff x="0" y="0"/>
            <a:chExt cx="2769152" cy="203609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0"/>
              <a:ext cx="2769152" cy="786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325"/>
                </a:lnSpc>
              </a:pPr>
              <a:r>
                <a:rPr lang="en-US" sz="1875" spc="168" dirty="0" smtClean="0">
                  <a:solidFill>
                    <a:srgbClr val="000000"/>
                  </a:solidFill>
                  <a:latin typeface="Libre Baskerville Bold"/>
                </a:rPr>
                <a:t>BE IN THE LEAD</a:t>
              </a:r>
              <a:endParaRPr lang="en-US" sz="1875" spc="168" dirty="0">
                <a:solidFill>
                  <a:srgbClr val="000000"/>
                </a:solidFill>
                <a:latin typeface="Libre Baskerville Bold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38355"/>
              <a:ext cx="2769152" cy="1097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12"/>
                </a:lnSpc>
              </a:pPr>
              <a:r>
                <a:rPr lang="en-US" sz="937" dirty="0">
                  <a:solidFill>
                    <a:srgbClr val="000000">
                      <a:alpha val="64705"/>
                    </a:srgbClr>
                  </a:solidFill>
                  <a:latin typeface="Libre Baskerville"/>
                </a:rPr>
                <a:t>Our mission is to develop leaders and organizations to maximize their full potential, whether it be on a personal, team, or organizational level. 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129176" y="5897470"/>
            <a:ext cx="2397901" cy="1527356"/>
            <a:chOff x="-1" y="0"/>
            <a:chExt cx="3197201" cy="2036475"/>
          </a:xfrm>
        </p:grpSpPr>
        <p:sp>
          <p:nvSpPr>
            <p:cNvPr id="14" name="TextBox 14"/>
            <p:cNvSpPr txBox="1"/>
            <p:nvPr/>
          </p:nvSpPr>
          <p:spPr>
            <a:xfrm>
              <a:off x="-1" y="0"/>
              <a:ext cx="3197201" cy="7865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25"/>
                </a:lnSpc>
              </a:pPr>
              <a:r>
                <a:rPr lang="en-US" sz="1875" spc="168" dirty="0" smtClean="0">
                  <a:solidFill>
                    <a:srgbClr val="000000"/>
                  </a:solidFill>
                  <a:latin typeface="Libre Baskerville Bold"/>
                </a:rPr>
                <a:t>LEAD WITH COMPETENCE</a:t>
              </a:r>
              <a:endParaRPr lang="en-US" sz="1875" spc="168" dirty="0">
                <a:solidFill>
                  <a:srgbClr val="000000"/>
                </a:solidFill>
                <a:latin typeface="Libre Baskerville 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38739"/>
              <a:ext cx="2769152" cy="10977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12"/>
                </a:lnSpc>
              </a:pPr>
              <a:r>
                <a:rPr lang="en-US" sz="937" dirty="0">
                  <a:solidFill>
                    <a:srgbClr val="000000">
                      <a:alpha val="64705"/>
                    </a:srgbClr>
                  </a:solidFill>
                  <a:latin typeface="Libre Baskerville"/>
                </a:rPr>
                <a:t>Our mission is to develop leaders and organizations to maximize their full potential, whether it be on a personal, team, or organizational level. 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731277" y="5887944"/>
            <a:ext cx="2076864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25"/>
              </a:lnSpc>
            </a:pPr>
            <a:r>
              <a:rPr lang="en-US" sz="1875" spc="168" dirty="0" smtClean="0">
                <a:solidFill>
                  <a:srgbClr val="000000"/>
                </a:solidFill>
                <a:latin typeface="Libre Baskerville Bold"/>
              </a:rPr>
              <a:t>HOW TO LEAD</a:t>
            </a:r>
            <a:endParaRPr lang="en-US" sz="1875" spc="168" dirty="0">
              <a:solidFill>
                <a:srgbClr val="000000"/>
              </a:solidFill>
              <a:latin typeface="Libre Baskervill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731277" y="6587237"/>
            <a:ext cx="2076864" cy="82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12"/>
              </a:lnSpc>
            </a:pPr>
            <a:r>
              <a:rPr lang="en-US" sz="937" dirty="0">
                <a:solidFill>
                  <a:srgbClr val="000000">
                    <a:alpha val="64705"/>
                  </a:srgbClr>
                </a:solidFill>
                <a:latin typeface="Libre Baskerville"/>
              </a:rPr>
              <a:t>In this new era of digital learning, we have designed this JAM page to fulfil your leadership training needs by bringing you solutions at your fingertips.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22242" y="7937500"/>
            <a:ext cx="5883636" cy="1284774"/>
            <a:chOff x="6767" y="0"/>
            <a:chExt cx="5435215" cy="1713032"/>
          </a:xfrm>
        </p:grpSpPr>
        <p:sp>
          <p:nvSpPr>
            <p:cNvPr id="20" name="TextBox 20"/>
            <p:cNvSpPr txBox="1"/>
            <p:nvPr/>
          </p:nvSpPr>
          <p:spPr>
            <a:xfrm>
              <a:off x="31783" y="0"/>
              <a:ext cx="5334403" cy="8549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462"/>
                </a:lnSpc>
              </a:pPr>
              <a:r>
                <a:rPr lang="en-US" sz="1985" spc="178" dirty="0" smtClean="0">
                  <a:solidFill>
                    <a:srgbClr val="000000"/>
                  </a:solidFill>
                  <a:latin typeface="Libre Baskerville Bold"/>
                </a:rPr>
                <a:t>WHAT HAS HAPPENED SO FAR</a:t>
              </a:r>
              <a:endParaRPr lang="en-US" sz="1985" spc="178" dirty="0">
                <a:solidFill>
                  <a:srgbClr val="000000"/>
                </a:solidFill>
                <a:latin typeface="Libre Baskerville 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782" y="916318"/>
              <a:ext cx="5410200" cy="2267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89"/>
                </a:lnSpc>
              </a:pPr>
              <a:r>
                <a:rPr lang="en-US" sz="992" spc="158" dirty="0">
                  <a:solidFill>
                    <a:srgbClr val="000000"/>
                  </a:solidFill>
                  <a:latin typeface="Libre Baskerville Italics"/>
                </a:rPr>
                <a:t>by </a:t>
              </a:r>
              <a:r>
                <a:rPr lang="en-US" sz="992" spc="158" dirty="0" smtClean="0">
                  <a:solidFill>
                    <a:srgbClr val="000000"/>
                  </a:solidFill>
                  <a:latin typeface="Libre Baskerville Italics"/>
                </a:rPr>
                <a:t>Fatma Alsagaf</a:t>
              </a:r>
              <a:endParaRPr lang="en-US" sz="992" spc="158" dirty="0">
                <a:solidFill>
                  <a:srgbClr val="000000"/>
                </a:solidFill>
                <a:latin typeface="Libre Baskerville Itali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67" y="1282145"/>
              <a:ext cx="4864100" cy="430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12"/>
                </a:lnSpc>
              </a:pPr>
              <a:r>
                <a:rPr lang="en-US" sz="937" dirty="0">
                  <a:solidFill>
                    <a:srgbClr val="000000">
                      <a:alpha val="64705"/>
                    </a:srgbClr>
                  </a:solidFill>
                  <a:latin typeface="Libre Baskerville"/>
                </a:rPr>
                <a:t>Our mission is to develop leaders and organizations to maximize their full potential, whether it be on a personal, team, or organizational level. 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911850" y="-343544"/>
            <a:ext cx="1257638" cy="110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4"/>
              </a:lnSpc>
            </a:pPr>
            <a:r>
              <a:rPr lang="en-US" sz="1000" spc="158" dirty="0" smtClean="0">
                <a:solidFill>
                  <a:srgbClr val="FFFFFF"/>
                </a:solidFill>
                <a:latin typeface="Libre Baskerville Bold"/>
              </a:rPr>
              <a:t>Volume 1</a:t>
            </a:r>
            <a:endParaRPr lang="en-US" sz="1000" spc="158" dirty="0">
              <a:solidFill>
                <a:srgbClr val="FFFFFF"/>
              </a:solidFill>
              <a:latin typeface="Libre Baskerville Bold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2" y="3801930"/>
            <a:ext cx="2500011" cy="163195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166" y="3801262"/>
            <a:ext cx="2554514" cy="1632624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866" y="3801367"/>
            <a:ext cx="2512634" cy="1632519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435940" y="221315"/>
            <a:ext cx="3291627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544"/>
              </a:lnSpc>
            </a:pPr>
            <a:r>
              <a:rPr lang="en-US" sz="3200" spc="176" dirty="0">
                <a:latin typeface="Libre Baskerville Italics"/>
              </a:rPr>
              <a:t>LEAD BUZZ!</a:t>
            </a:r>
          </a:p>
        </p:txBody>
      </p:sp>
    </p:spTree>
    <p:extLst>
      <p:ext uri="{BB962C8B-B14F-4D97-AF65-F5344CB8AC3E}">
        <p14:creationId xmlns:p14="http://schemas.microsoft.com/office/powerpoint/2010/main" val="1267040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220</Words>
  <Application>Microsoft Office PowerPoint</Application>
  <PresentationFormat>Custom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Libre Baskerville</vt:lpstr>
      <vt:lpstr>Libre Baskerville Italics</vt:lpstr>
      <vt:lpstr>Open Sans Bold</vt:lpstr>
      <vt:lpstr>Open Sans Extra Bold</vt:lpstr>
      <vt:lpstr>Libre Baskerville Bold</vt:lpstr>
      <vt:lpstr>Arial</vt:lpstr>
      <vt:lpstr>Arial Unicode MS</vt:lpstr>
      <vt:lpstr>Calibri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Fatma Alsagaf</cp:lastModifiedBy>
  <cp:revision>180</cp:revision>
  <dcterms:created xsi:type="dcterms:W3CDTF">2006-08-16T00:00:00Z</dcterms:created>
  <dcterms:modified xsi:type="dcterms:W3CDTF">2020-10-05T05:27:05Z</dcterms:modified>
  <dc:identifier>DAEJDVsm0cY</dc:identifier>
</cp:coreProperties>
</file>