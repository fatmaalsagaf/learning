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sldIdLst>
    <p:sldId id="257" r:id="rId5"/>
    <p:sldId id="258" r:id="rId6"/>
  </p:sldIdLst>
  <p:sldSz cx="17068800" cy="9601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71308"/>
            <a:ext cx="1280160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5042853"/>
            <a:ext cx="128016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0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1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590" y="2393634"/>
            <a:ext cx="1472184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590" y="6425249"/>
            <a:ext cx="1472184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3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480" y="2555875"/>
            <a:ext cx="725424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41080" y="2555875"/>
            <a:ext cx="725424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4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3" y="511176"/>
            <a:ext cx="1472184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5704" y="2353628"/>
            <a:ext cx="7220902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5704" y="3507105"/>
            <a:ext cx="7220902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641080" y="2353628"/>
            <a:ext cx="7256463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41080" y="3507105"/>
            <a:ext cx="7256463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5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13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3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6463" y="1382396"/>
            <a:ext cx="864108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6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256463" y="1382396"/>
            <a:ext cx="864108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1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3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214860" y="511175"/>
            <a:ext cx="3680460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480" y="511175"/>
            <a:ext cx="10828020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6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3480" y="511176"/>
            <a:ext cx="1472184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3480" y="2555875"/>
            <a:ext cx="1472184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348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48159-95C9-472F-9BEE-32338FB2B5E9}" type="datetimeFigureOut">
              <a:rPr lang="en-US" smtClean="0"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4040" y="8898891"/>
            <a:ext cx="57607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05484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6631E-8451-404B-A1BC-6A2704CC3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9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Learning@alfuttaim.ae" TargetMode="External"/><Relationship Id="rId5" Type="http://schemas.openxmlformats.org/officeDocument/2006/relationships/hyperlink" Target="https://forms.office.com/Pages/ResponsePage.aspx?id=DQSIkWdsW0yxEjajBLZtrQAAAAAAAAAAAAMAAC6_ZkxUM0RCUEo3RkpJMEFLTlZDWlhHWkoxT0swSC4u" TargetMode="External"/><Relationship Id="rId4" Type="http://schemas.openxmlformats.org/officeDocument/2006/relationships/hyperlink" Target="https://forms.office.com/Pages/ResponsePage.aspx?id=DQSIkWdsW0yxEjajBLZtrQAAAAAAAAAAAAMAAC6_ZkxUNTEyQlMyRERIWEtBSEEwN0xZNlVNTDlTTC4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orms.office.com/Pages/ResponsePage.aspx?id=DQSIkWdsW0yxEjajBLZtrQAAAAAAAAAAAAMAAC6_ZkxUM0RCUEo3RkpJMEFLTlZDWlhHWkoxT0swSC4u" TargetMode="External"/><Relationship Id="rId4" Type="http://schemas.openxmlformats.org/officeDocument/2006/relationships/hyperlink" Target="https://forms.office.com/Pages/ResponsePage.aspx?id=DQSIkWdsW0yxEjajBLZtrQAAAAAAAAAAAAMAAC6_ZkxUNTEyQlMyRERIWEtBSEEwN0xZNlVNTDlTTC4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A0291DE-6D4D-49A1-89A2-0E0949028074}"/>
              </a:ext>
            </a:extLst>
          </p:cNvPr>
          <p:cNvGrpSpPr/>
          <p:nvPr/>
        </p:nvGrpSpPr>
        <p:grpSpPr>
          <a:xfrm>
            <a:off x="-3624202" y="-24157"/>
            <a:ext cx="17114409" cy="9601200"/>
            <a:chOff x="891983" y="536809"/>
            <a:chExt cx="9908097" cy="5558452"/>
          </a:xfrm>
        </p:grpSpPr>
        <p:pic>
          <p:nvPicPr>
            <p:cNvPr id="1026" name="Picture 2" descr="8 Top Tips on Becoming a Successful Business Leader">
              <a:extLst>
                <a:ext uri="{FF2B5EF4-FFF2-40B4-BE49-F238E27FC236}">
                  <a16:creationId xmlns:a16="http://schemas.microsoft.com/office/drawing/2014/main" id="{16F1B7E0-162A-4ED0-86D7-4F4A7F0AC4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896" r="89864">
                          <a14:foregroundMark x1="53097" y1="31052" x2="54828" y2="38590"/>
                          <a14:foregroundMark x1="48683" y1="11828" x2="52447" y2="28223"/>
                          <a14:foregroundMark x1="61082" y1="53176" x2="64086" y2="59857"/>
                          <a14:foregroundMark x1="55706" y1="41219" x2="57481" y2="45167"/>
                          <a14:foregroundMark x1="64964" y1="59618" x2="68635" y2="64277"/>
                          <a14:foregroundMark x1="68955" y1="65114" x2="65283" y2="73716"/>
                          <a14:foregroundMark x1="57622" y1="46834" x2="58978" y2="50896"/>
                          <a14:foregroundMark x1="58978" y1="50896" x2="59218" y2="51254"/>
                          <a14:backgroundMark x1="59754" y1="50624" x2="61293" y2="52927"/>
                          <a14:backgroundMark x1="58021" y1="44922" x2="58319" y2="46350"/>
                          <a14:backgroundMark x1="53073" y1="27957" x2="53631" y2="3082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19"/>
            <a:stretch/>
          </p:blipFill>
          <p:spPr bwMode="auto">
            <a:xfrm>
              <a:off x="891983" y="536809"/>
              <a:ext cx="9908097" cy="55584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Freeform 18">
              <a:extLst>
                <a:ext uri="{FF2B5EF4-FFF2-40B4-BE49-F238E27FC236}">
                  <a16:creationId xmlns:a16="http://schemas.microsoft.com/office/drawing/2014/main" id="{A79BE43E-9E9B-4D21-BCD0-B2E58D5ACD39}"/>
                </a:ext>
              </a:extLst>
            </p:cNvPr>
            <p:cNvSpPr/>
            <p:nvPr/>
          </p:nvSpPr>
          <p:spPr>
            <a:xfrm rot="2691933">
              <a:off x="4216405" y="1203096"/>
              <a:ext cx="146285" cy="143319"/>
            </a:xfrm>
            <a:custGeom>
              <a:avLst/>
              <a:gdLst>
                <a:gd name="connsiteX0" fmla="*/ 287789 w 1133754"/>
                <a:gd name="connsiteY0" fmla="*/ 276913 h 1110768"/>
                <a:gd name="connsiteX1" fmla="*/ 284644 w 1133754"/>
                <a:gd name="connsiteY1" fmla="*/ 514776 h 1110768"/>
                <a:gd name="connsiteX2" fmla="*/ 532527 w 1133754"/>
                <a:gd name="connsiteY2" fmla="*/ 514669 h 1110768"/>
                <a:gd name="connsiteX3" fmla="*/ 533735 w 1133754"/>
                <a:gd name="connsiteY3" fmla="*/ 276913 h 1110768"/>
                <a:gd name="connsiteX4" fmla="*/ 10924 w 1133754"/>
                <a:gd name="connsiteY4" fmla="*/ 124 h 1110768"/>
                <a:gd name="connsiteX5" fmla="*/ 14635 w 1133754"/>
                <a:gd name="connsiteY5" fmla="*/ 124 h 1110768"/>
                <a:gd name="connsiteX6" fmla="*/ 14637 w 1133754"/>
                <a:gd name="connsiteY6" fmla="*/ 0 h 1110768"/>
                <a:gd name="connsiteX7" fmla="*/ 24033 w 1133754"/>
                <a:gd name="connsiteY7" fmla="*/ 124 h 1110768"/>
                <a:gd name="connsiteX8" fmla="*/ 1118130 w 1133754"/>
                <a:gd name="connsiteY8" fmla="*/ 124 h 1110768"/>
                <a:gd name="connsiteX9" fmla="*/ 1118130 w 1133754"/>
                <a:gd name="connsiteY9" fmla="*/ 276913 h 1110768"/>
                <a:gd name="connsiteX10" fmla="*/ 810527 w 1133754"/>
                <a:gd name="connsiteY10" fmla="*/ 276913 h 1110768"/>
                <a:gd name="connsiteX11" fmla="*/ 809320 w 1133754"/>
                <a:gd name="connsiteY11" fmla="*/ 514550 h 1110768"/>
                <a:gd name="connsiteX12" fmla="*/ 1133634 w 1133754"/>
                <a:gd name="connsiteY12" fmla="*/ 514409 h 1110768"/>
                <a:gd name="connsiteX13" fmla="*/ 1133754 w 1133754"/>
                <a:gd name="connsiteY13" fmla="*/ 791198 h 1110768"/>
                <a:gd name="connsiteX14" fmla="*/ 807914 w 1133754"/>
                <a:gd name="connsiteY14" fmla="*/ 791339 h 1110768"/>
                <a:gd name="connsiteX15" fmla="*/ 806294 w 1133754"/>
                <a:gd name="connsiteY15" fmla="*/ 1110344 h 1110768"/>
                <a:gd name="connsiteX16" fmla="*/ 529508 w 1133754"/>
                <a:gd name="connsiteY16" fmla="*/ 1108938 h 1110768"/>
                <a:gd name="connsiteX17" fmla="*/ 531121 w 1133754"/>
                <a:gd name="connsiteY17" fmla="*/ 791459 h 1110768"/>
                <a:gd name="connsiteX18" fmla="*/ 280985 w 1133754"/>
                <a:gd name="connsiteY18" fmla="*/ 791567 h 1110768"/>
                <a:gd name="connsiteX19" fmla="*/ 276765 w 1133754"/>
                <a:gd name="connsiteY19" fmla="*/ 1110768 h 1110768"/>
                <a:gd name="connsiteX20" fmla="*/ 0 w 1133754"/>
                <a:gd name="connsiteY20" fmla="*/ 1107109 h 1110768"/>
                <a:gd name="connsiteX21" fmla="*/ 10976 w 1133754"/>
                <a:gd name="connsiteY21" fmla="*/ 276913 h 1110768"/>
                <a:gd name="connsiteX22" fmla="*/ 10924 w 1133754"/>
                <a:gd name="connsiteY22" fmla="*/ 276913 h 111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33754" h="1110768">
                  <a:moveTo>
                    <a:pt x="287789" y="276913"/>
                  </a:moveTo>
                  <a:lnTo>
                    <a:pt x="284644" y="514776"/>
                  </a:lnTo>
                  <a:lnTo>
                    <a:pt x="532527" y="514669"/>
                  </a:lnTo>
                  <a:lnTo>
                    <a:pt x="533735" y="276913"/>
                  </a:lnTo>
                  <a:close/>
                  <a:moveTo>
                    <a:pt x="10924" y="124"/>
                  </a:moveTo>
                  <a:lnTo>
                    <a:pt x="14635" y="124"/>
                  </a:lnTo>
                  <a:lnTo>
                    <a:pt x="14637" y="0"/>
                  </a:lnTo>
                  <a:lnTo>
                    <a:pt x="24033" y="124"/>
                  </a:lnTo>
                  <a:lnTo>
                    <a:pt x="1118130" y="124"/>
                  </a:lnTo>
                  <a:lnTo>
                    <a:pt x="1118130" y="276913"/>
                  </a:lnTo>
                  <a:lnTo>
                    <a:pt x="810527" y="276913"/>
                  </a:lnTo>
                  <a:lnTo>
                    <a:pt x="809320" y="514550"/>
                  </a:lnTo>
                  <a:lnTo>
                    <a:pt x="1133634" y="514409"/>
                  </a:lnTo>
                  <a:lnTo>
                    <a:pt x="1133754" y="791198"/>
                  </a:lnTo>
                  <a:lnTo>
                    <a:pt x="807914" y="791339"/>
                  </a:lnTo>
                  <a:lnTo>
                    <a:pt x="806294" y="1110344"/>
                  </a:lnTo>
                  <a:lnTo>
                    <a:pt x="529508" y="1108938"/>
                  </a:lnTo>
                  <a:lnTo>
                    <a:pt x="531121" y="791459"/>
                  </a:lnTo>
                  <a:lnTo>
                    <a:pt x="280985" y="791567"/>
                  </a:lnTo>
                  <a:lnTo>
                    <a:pt x="276765" y="1110768"/>
                  </a:lnTo>
                  <a:lnTo>
                    <a:pt x="0" y="1107109"/>
                  </a:lnTo>
                  <a:lnTo>
                    <a:pt x="10976" y="276913"/>
                  </a:lnTo>
                  <a:lnTo>
                    <a:pt x="10924" y="27691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perspectiveHeroicExtremeLeftFacing"/>
              <a:lightRig rig="threePt" dir="t"/>
            </a:scene3d>
            <a:sp3d>
              <a:bevelT w="12700" h="508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60" dirty="0"/>
            </a:p>
          </p:txBody>
        </p:sp>
      </p:grpSp>
      <p:sp>
        <p:nvSpPr>
          <p:cNvPr id="19" name="TextBox 17">
            <a:extLst>
              <a:ext uri="{FF2B5EF4-FFF2-40B4-BE49-F238E27FC236}">
                <a16:creationId xmlns:a16="http://schemas.microsoft.com/office/drawing/2014/main" id="{FF41130E-49E5-4735-B00A-A9D186251677}"/>
              </a:ext>
            </a:extLst>
          </p:cNvPr>
          <p:cNvSpPr txBox="1"/>
          <p:nvPr/>
        </p:nvSpPr>
        <p:spPr>
          <a:xfrm>
            <a:off x="11464882" y="7804673"/>
            <a:ext cx="1813854" cy="345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dirty="0">
                <a:solidFill>
                  <a:srgbClr val="FFFFFF"/>
                </a:solidFill>
                <a:latin typeface="Open Sans Bold"/>
              </a:rPr>
              <a:t>Register Me!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7395AE-C557-4FC8-99B5-6A97DDD9E19B}"/>
              </a:ext>
            </a:extLst>
          </p:cNvPr>
          <p:cNvSpPr txBox="1"/>
          <p:nvPr/>
        </p:nvSpPr>
        <p:spPr>
          <a:xfrm>
            <a:off x="23149212" y="-514994"/>
            <a:ext cx="1257638" cy="110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4"/>
              </a:lnSpc>
            </a:pPr>
            <a:r>
              <a:rPr lang="en-US" sz="1000" spc="158" dirty="0">
                <a:solidFill>
                  <a:srgbClr val="FFFFFF"/>
                </a:solidFill>
                <a:latin typeface="Libre Baskerville Bold"/>
              </a:rPr>
              <a:t>Volume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60E6E3-206C-4F1D-A972-EEEA3D2C636B}"/>
              </a:ext>
            </a:extLst>
          </p:cNvPr>
          <p:cNvSpPr/>
          <p:nvPr/>
        </p:nvSpPr>
        <p:spPr>
          <a:xfrm>
            <a:off x="13372130" y="1825615"/>
            <a:ext cx="3160151" cy="7103531"/>
          </a:xfrm>
          <a:prstGeom prst="rect">
            <a:avLst/>
          </a:prstGeom>
          <a:solidFill>
            <a:schemeClr val="dk1">
              <a:alpha val="5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1450E3D3-2334-46F9-9011-378E3DA52970}"/>
              </a:ext>
            </a:extLst>
          </p:cNvPr>
          <p:cNvSpPr txBox="1"/>
          <p:nvPr/>
        </p:nvSpPr>
        <p:spPr>
          <a:xfrm>
            <a:off x="13753466" y="9062180"/>
            <a:ext cx="2925971" cy="1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4"/>
              </a:lnSpc>
            </a:pP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Learn. Engage. Act. Deliver</a:t>
            </a:r>
            <a:endParaRPr lang="en-US" sz="1100" spc="176" dirty="0">
              <a:solidFill>
                <a:schemeClr val="accent2">
                  <a:lumMod val="60000"/>
                  <a:lumOff val="40000"/>
                </a:schemeClr>
              </a:solidFill>
              <a:latin typeface="Libre Baskerville Italics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08DFA26-0236-4F17-9857-53F125A60D3F}"/>
              </a:ext>
            </a:extLst>
          </p:cNvPr>
          <p:cNvGrpSpPr/>
          <p:nvPr/>
        </p:nvGrpSpPr>
        <p:grpSpPr>
          <a:xfrm>
            <a:off x="13877430" y="8178018"/>
            <a:ext cx="2086219" cy="505046"/>
            <a:chOff x="21467371" y="8604250"/>
            <a:chExt cx="2086219" cy="505046"/>
          </a:xfrm>
        </p:grpSpPr>
        <p:grpSp>
          <p:nvGrpSpPr>
            <p:cNvPr id="34" name="Group 9">
              <a:extLst>
                <a:ext uri="{FF2B5EF4-FFF2-40B4-BE49-F238E27FC236}">
                  <a16:creationId xmlns:a16="http://schemas.microsoft.com/office/drawing/2014/main" id="{5CB7D1F9-D784-4ABF-AC29-5AB2D307177A}"/>
                </a:ext>
              </a:extLst>
            </p:cNvPr>
            <p:cNvGrpSpPr/>
            <p:nvPr/>
          </p:nvGrpSpPr>
          <p:grpSpPr>
            <a:xfrm>
              <a:off x="21467371" y="8604250"/>
              <a:ext cx="2086219" cy="505046"/>
              <a:chOff x="0" y="0"/>
              <a:chExt cx="3743134" cy="1342562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4A8937A2-0730-43B0-88D4-52C5327747E8}"/>
                  </a:ext>
                </a:extLst>
              </p:cNvPr>
              <p:cNvSpPr/>
              <p:nvPr/>
            </p:nvSpPr>
            <p:spPr>
              <a:xfrm>
                <a:off x="0" y="0"/>
                <a:ext cx="3743134" cy="1342562"/>
              </a:xfrm>
              <a:custGeom>
                <a:avLst/>
                <a:gdLst/>
                <a:ahLst/>
                <a:cxnLst/>
                <a:rect l="l" t="t" r="r" b="b"/>
                <a:pathLst>
                  <a:path w="3743134" h="1342562">
                    <a:moveTo>
                      <a:pt x="0" y="0"/>
                    </a:moveTo>
                    <a:lnTo>
                      <a:pt x="3743134" y="0"/>
                    </a:lnTo>
                    <a:lnTo>
                      <a:pt x="3743134" y="1342562"/>
                    </a:lnTo>
                    <a:lnTo>
                      <a:pt x="0" y="1342562"/>
                    </a:lnTo>
                    <a:close/>
                  </a:path>
                </a:pathLst>
              </a:custGeom>
              <a:solidFill>
                <a:srgbClr val="FF0000">
                  <a:alpha val="82745"/>
                </a:srgbClr>
              </a:solidFill>
            </p:spPr>
          </p:sp>
        </p:grpSp>
        <p:sp>
          <p:nvSpPr>
            <p:cNvPr id="35" name="TextBox 17">
              <a:hlinkClick r:id="rId4"/>
              <a:extLst>
                <a:ext uri="{FF2B5EF4-FFF2-40B4-BE49-F238E27FC236}">
                  <a16:creationId xmlns:a16="http://schemas.microsoft.com/office/drawing/2014/main" id="{E8A206A5-16A6-4AF7-901F-E71942A2D402}"/>
                </a:ext>
              </a:extLst>
            </p:cNvPr>
            <p:cNvSpPr txBox="1"/>
            <p:nvPr/>
          </p:nvSpPr>
          <p:spPr>
            <a:xfrm>
              <a:off x="21558517" y="8640091"/>
              <a:ext cx="1813854" cy="3451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dirty="0">
                  <a:solidFill>
                    <a:srgbClr val="FFFFFF"/>
                  </a:solidFill>
                  <a:latin typeface="Open Sans Bold"/>
                </a:rPr>
                <a:t>Register Me!</a:t>
              </a: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22F2D579-8676-4FCE-8D00-9DF8EB427037}"/>
              </a:ext>
            </a:extLst>
          </p:cNvPr>
          <p:cNvSpPr txBox="1"/>
          <p:nvPr/>
        </p:nvSpPr>
        <p:spPr>
          <a:xfrm>
            <a:off x="13592492" y="2077781"/>
            <a:ext cx="364660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Open Sans Extra Bold"/>
              </a:rPr>
              <a:t>LEAD</a:t>
            </a:r>
            <a:r>
              <a:rPr lang="en-US" sz="2400" dirty="0">
                <a:solidFill>
                  <a:schemeClr val="bg1"/>
                </a:solidFill>
                <a:latin typeface="Open Sans Extra Bold"/>
              </a:rPr>
              <a:t> </a:t>
            </a:r>
          </a:p>
          <a:p>
            <a:r>
              <a:rPr lang="en-US" sz="2400" dirty="0">
                <a:solidFill>
                  <a:schemeClr val="bg1"/>
                </a:solidFill>
                <a:latin typeface="Open Sans Extra Bold"/>
              </a:rPr>
              <a:t>Live Sessions</a:t>
            </a: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9E8F88FD-F524-434E-87C2-4020C828635B}"/>
              </a:ext>
            </a:extLst>
          </p:cNvPr>
          <p:cNvSpPr txBox="1"/>
          <p:nvPr/>
        </p:nvSpPr>
        <p:spPr>
          <a:xfrm>
            <a:off x="13607832" y="5764047"/>
            <a:ext cx="2666411" cy="720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b="1" dirty="0">
                <a:solidFill>
                  <a:schemeClr val="bg1"/>
                </a:solidFill>
                <a:latin typeface="Open Sans Extra Bold"/>
              </a:rPr>
              <a:t>MINT</a:t>
            </a:r>
            <a:r>
              <a:rPr lang="en-US" sz="2400" dirty="0">
                <a:solidFill>
                  <a:schemeClr val="bg1"/>
                </a:solidFill>
                <a:latin typeface="Open Sans Extra Bold"/>
              </a:rPr>
              <a:t> </a:t>
            </a:r>
          </a:p>
          <a:p>
            <a:pPr>
              <a:lnSpc>
                <a:spcPts val="2940"/>
              </a:lnSpc>
            </a:pPr>
            <a:r>
              <a:rPr lang="en-US" sz="2400" dirty="0">
                <a:solidFill>
                  <a:schemeClr val="bg1"/>
                </a:solidFill>
                <a:latin typeface="Open Sans Extra Bold"/>
              </a:rPr>
              <a:t>Live Sessions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F771A1-3F89-41F1-AC5D-62830449B234}"/>
              </a:ext>
            </a:extLst>
          </p:cNvPr>
          <p:cNvSpPr txBox="1"/>
          <p:nvPr/>
        </p:nvSpPr>
        <p:spPr>
          <a:xfrm>
            <a:off x="13573442" y="3824696"/>
            <a:ext cx="2847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Mastering Motivation for Self and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Art of Delegation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Leadership Styles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AC9296-4A52-49DB-B274-CC1624502E51}"/>
              </a:ext>
            </a:extLst>
          </p:cNvPr>
          <p:cNvSpPr txBox="1"/>
          <p:nvPr/>
        </p:nvSpPr>
        <p:spPr>
          <a:xfrm>
            <a:off x="13573442" y="2803518"/>
            <a:ext cx="28020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Leadership session scheduled for our Leaders. </a:t>
            </a:r>
            <a:r>
              <a:rPr lang="en-US" sz="1600" dirty="0">
                <a:solidFill>
                  <a:schemeClr val="bg1"/>
                </a:solidFill>
              </a:rPr>
              <a:t>Click on Register me to choose your preferred session in October.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C1A57A-3447-4CA9-83A7-13A2B3ABA95A}"/>
              </a:ext>
            </a:extLst>
          </p:cNvPr>
          <p:cNvGrpSpPr/>
          <p:nvPr/>
        </p:nvGrpSpPr>
        <p:grpSpPr>
          <a:xfrm>
            <a:off x="13852568" y="5018856"/>
            <a:ext cx="2086219" cy="505046"/>
            <a:chOff x="21438552" y="6413500"/>
            <a:chExt cx="2086219" cy="505046"/>
          </a:xfrm>
          <a:solidFill>
            <a:srgbClr val="FF0000"/>
          </a:solidFill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11708D31-785B-4F48-9E85-BD72B2316E63}"/>
                </a:ext>
              </a:extLst>
            </p:cNvPr>
            <p:cNvGrpSpPr/>
            <p:nvPr/>
          </p:nvGrpSpPr>
          <p:grpSpPr>
            <a:xfrm>
              <a:off x="21438552" y="6413500"/>
              <a:ext cx="2086219" cy="505046"/>
              <a:chOff x="0" y="658332"/>
              <a:chExt cx="3743134" cy="1342562"/>
            </a:xfrm>
            <a:grpFill/>
          </p:grpSpPr>
          <p:sp>
            <p:nvSpPr>
              <p:cNvPr id="44" name="Freeform 10">
                <a:extLst>
                  <a:ext uri="{FF2B5EF4-FFF2-40B4-BE49-F238E27FC236}">
                    <a16:creationId xmlns:a16="http://schemas.microsoft.com/office/drawing/2014/main" id="{5104821F-140A-4C4A-82EA-6631826A8ACD}"/>
                  </a:ext>
                </a:extLst>
              </p:cNvPr>
              <p:cNvSpPr/>
              <p:nvPr/>
            </p:nvSpPr>
            <p:spPr>
              <a:xfrm>
                <a:off x="0" y="658332"/>
                <a:ext cx="3743134" cy="1342562"/>
              </a:xfrm>
              <a:custGeom>
                <a:avLst/>
                <a:gdLst/>
                <a:ahLst/>
                <a:cxnLst/>
                <a:rect l="l" t="t" r="r" b="b"/>
                <a:pathLst>
                  <a:path w="3743134" h="1342562">
                    <a:moveTo>
                      <a:pt x="0" y="0"/>
                    </a:moveTo>
                    <a:lnTo>
                      <a:pt x="3743134" y="0"/>
                    </a:lnTo>
                    <a:lnTo>
                      <a:pt x="3743134" y="1342562"/>
                    </a:lnTo>
                    <a:lnTo>
                      <a:pt x="0" y="1342562"/>
                    </a:lnTo>
                    <a:close/>
                  </a:path>
                </a:pathLst>
              </a:custGeom>
              <a:grpFill/>
            </p:spPr>
          </p:sp>
        </p:grpSp>
        <p:sp>
          <p:nvSpPr>
            <p:cNvPr id="40" name="TextBox 17">
              <a:extLst>
                <a:ext uri="{FF2B5EF4-FFF2-40B4-BE49-F238E27FC236}">
                  <a16:creationId xmlns:a16="http://schemas.microsoft.com/office/drawing/2014/main" id="{5953066E-54E1-4CC0-B21D-C326FE2FDC97}"/>
                </a:ext>
              </a:extLst>
            </p:cNvPr>
            <p:cNvSpPr txBox="1"/>
            <p:nvPr/>
          </p:nvSpPr>
          <p:spPr>
            <a:xfrm>
              <a:off x="21529698" y="6449341"/>
              <a:ext cx="1813854" cy="331501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dirty="0">
                  <a:solidFill>
                    <a:srgbClr val="FFFFFF"/>
                  </a:solidFill>
                  <a:latin typeface="Open Sans Bold"/>
                  <a:hlinkClick r:id="rId5"/>
                </a:rPr>
                <a:t>Register Me!</a:t>
              </a:r>
              <a:endParaRPr lang="en-US" dirty="0">
                <a:solidFill>
                  <a:srgbClr val="FFFFFF"/>
                </a:solidFill>
                <a:latin typeface="Open Sans Bold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6C94B553-9529-4D57-892B-F764A36042A3}"/>
              </a:ext>
            </a:extLst>
          </p:cNvPr>
          <p:cNvSpPr/>
          <p:nvPr/>
        </p:nvSpPr>
        <p:spPr>
          <a:xfrm>
            <a:off x="6941725" y="1875052"/>
            <a:ext cx="2994705" cy="7103531"/>
          </a:xfrm>
          <a:prstGeom prst="rect">
            <a:avLst/>
          </a:prstGeom>
          <a:solidFill>
            <a:schemeClr val="dk1">
              <a:alpha val="5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992FA98-7DDF-44FE-9DF4-416E5874284D}"/>
              </a:ext>
            </a:extLst>
          </p:cNvPr>
          <p:cNvSpPr/>
          <p:nvPr/>
        </p:nvSpPr>
        <p:spPr>
          <a:xfrm>
            <a:off x="3790064" y="1868389"/>
            <a:ext cx="2994705" cy="7103531"/>
          </a:xfrm>
          <a:prstGeom prst="rect">
            <a:avLst/>
          </a:prstGeom>
          <a:solidFill>
            <a:schemeClr val="dk1">
              <a:alpha val="5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C7FEED49-6B63-4113-A44C-DE324C38BDF3}"/>
              </a:ext>
            </a:extLst>
          </p:cNvPr>
          <p:cNvSpPr txBox="1"/>
          <p:nvPr/>
        </p:nvSpPr>
        <p:spPr>
          <a:xfrm>
            <a:off x="4189421" y="2154075"/>
            <a:ext cx="263467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800" b="1" dirty="0">
                <a:solidFill>
                  <a:schemeClr val="bg1"/>
                </a:solidFill>
                <a:latin typeface="Open Sans Extra Bold"/>
              </a:rPr>
              <a:t>What’s New!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0EA8B1-E2C1-4937-970C-FF72B5B63AB0}"/>
              </a:ext>
            </a:extLst>
          </p:cNvPr>
          <p:cNvSpPr txBox="1"/>
          <p:nvPr/>
        </p:nvSpPr>
        <p:spPr>
          <a:xfrm>
            <a:off x="4067700" y="2712640"/>
            <a:ext cx="245154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Welcome message from our Leaders on New Revamped LEAD Page.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Trending Now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Al-Futtaim Leaders Interview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Leadership Podcast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LinkedIn Learning Recommendations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Leadership Tips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Monthly calendar </a:t>
            </a:r>
            <a:r>
              <a:rPr lang="en-US" dirty="0">
                <a:solidFill>
                  <a:schemeClr val="bg1"/>
                </a:solidFill>
              </a:rPr>
              <a:t>featuring LIVE leadership </a:t>
            </a:r>
            <a:r>
              <a:rPr lang="en-US" dirty="0" smtClean="0">
                <a:solidFill>
                  <a:schemeClr val="bg1"/>
                </a:solidFill>
              </a:rPr>
              <a:t>sessions &amp; the </a:t>
            </a:r>
            <a:r>
              <a:rPr lang="en-US" dirty="0">
                <a:solidFill>
                  <a:schemeClr val="bg1"/>
                </a:solidFill>
              </a:rPr>
              <a:t>MINT </a:t>
            </a:r>
            <a:r>
              <a:rPr lang="en-US" dirty="0" err="1" smtClean="0">
                <a:solidFill>
                  <a:schemeClr val="bg1"/>
                </a:solidFill>
              </a:rPr>
              <a:t>programme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You can even sign up to be a presenter to deliver a session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F81081-0321-408B-9C6B-E5653BA43768}"/>
              </a:ext>
            </a:extLst>
          </p:cNvPr>
          <p:cNvSpPr txBox="1"/>
          <p:nvPr/>
        </p:nvSpPr>
        <p:spPr>
          <a:xfrm>
            <a:off x="7109774" y="2784238"/>
            <a:ext cx="26548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New learning  recommendation will be added every week.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 have send an invite to those who are not yet on the LEAD page, kindly accept. Please look out for an email from  'noreply@sapjam.com'.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If you still have not received any email, please write to us </a:t>
            </a:r>
            <a:r>
              <a:rPr lang="en-US" dirty="0" smtClean="0">
                <a:solidFill>
                  <a:schemeClr val="bg1"/>
                </a:solidFill>
              </a:rPr>
              <a:t>on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  <a:hlinkClick r:id="rId6"/>
              </a:rPr>
              <a:t>Learning@alfuttaim.ae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for support.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A5BA1817-3DED-419B-80F0-BA3A39FE7467}"/>
              </a:ext>
            </a:extLst>
          </p:cNvPr>
          <p:cNvSpPr txBox="1"/>
          <p:nvPr/>
        </p:nvSpPr>
        <p:spPr>
          <a:xfrm>
            <a:off x="7245967" y="2124476"/>
            <a:ext cx="263467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800" b="1" dirty="0">
                <a:solidFill>
                  <a:schemeClr val="bg1"/>
                </a:solidFill>
                <a:latin typeface="Open Sans Extra Bold"/>
              </a:rPr>
              <a:t>Coming Soon..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47EDFBC-CAFB-458C-97F8-027D9D81F350}"/>
              </a:ext>
            </a:extLst>
          </p:cNvPr>
          <p:cNvGrpSpPr/>
          <p:nvPr/>
        </p:nvGrpSpPr>
        <p:grpSpPr>
          <a:xfrm>
            <a:off x="7602992" y="134910"/>
            <a:ext cx="7172457" cy="1458541"/>
            <a:chOff x="8847750" y="97327"/>
            <a:chExt cx="7172457" cy="14585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9EEB4DC-03FA-40F2-A630-5C5671D0DBFF}"/>
                </a:ext>
              </a:extLst>
            </p:cNvPr>
            <p:cNvSpPr txBox="1"/>
            <p:nvPr/>
          </p:nvSpPr>
          <p:spPr>
            <a:xfrm>
              <a:off x="8847750" y="97327"/>
              <a:ext cx="717245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b="1" dirty="0">
                  <a:latin typeface="Rockwell" panose="02060603020205020403" pitchFamily="18" charset="0"/>
                </a:rPr>
                <a:t>INSIDE LEAD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47EC11-7A87-4749-90A4-5631221E491A}"/>
                </a:ext>
              </a:extLst>
            </p:cNvPr>
            <p:cNvSpPr txBox="1"/>
            <p:nvPr/>
          </p:nvSpPr>
          <p:spPr>
            <a:xfrm>
              <a:off x="8847751" y="1186536"/>
              <a:ext cx="71264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Your one stop, for all the essential tips and tricks of being a great Leader!</a:t>
              </a: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3962AF2A-4BE2-4E1B-973E-DAC702685333}"/>
              </a:ext>
            </a:extLst>
          </p:cNvPr>
          <p:cNvSpPr txBox="1"/>
          <p:nvPr/>
        </p:nvSpPr>
        <p:spPr>
          <a:xfrm>
            <a:off x="13560290" y="6516088"/>
            <a:ext cx="29401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A </a:t>
            </a:r>
            <a:r>
              <a:rPr lang="en-US" sz="1600" dirty="0" err="1" smtClean="0">
                <a:solidFill>
                  <a:schemeClr val="bg1"/>
                </a:solidFill>
              </a:rPr>
              <a:t>programme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for people managers </a:t>
            </a:r>
            <a:r>
              <a:rPr lang="en-US" sz="1600" dirty="0" smtClean="0">
                <a:solidFill>
                  <a:schemeClr val="bg1"/>
                </a:solidFill>
              </a:rPr>
              <a:t>designed </a:t>
            </a:r>
            <a:r>
              <a:rPr lang="en-US" sz="1600" dirty="0">
                <a:solidFill>
                  <a:schemeClr val="bg1"/>
                </a:solidFill>
              </a:rPr>
              <a:t>keeping your needs  in </a:t>
            </a:r>
            <a:r>
              <a:rPr lang="en-US" sz="1600" dirty="0" smtClean="0">
                <a:solidFill>
                  <a:schemeClr val="bg1"/>
                </a:solidFill>
              </a:rPr>
              <a:t>mind. </a:t>
            </a:r>
            <a:r>
              <a:rPr lang="en-US" sz="1600" dirty="0">
                <a:solidFill>
                  <a:schemeClr val="bg1"/>
                </a:solidFill>
              </a:rPr>
              <a:t>It is  divided into 6 </a:t>
            </a:r>
            <a:r>
              <a:rPr lang="en-US" sz="1600" dirty="0" smtClean="0">
                <a:solidFill>
                  <a:schemeClr val="bg1"/>
                </a:solidFill>
              </a:rPr>
              <a:t>module. Click on Register me to choose your preferred session in October.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59142F0-4CF1-4E5F-9489-08649F8A53A0}"/>
              </a:ext>
            </a:extLst>
          </p:cNvPr>
          <p:cNvGrpSpPr/>
          <p:nvPr/>
        </p:nvGrpSpPr>
        <p:grpSpPr>
          <a:xfrm>
            <a:off x="15030385" y="299012"/>
            <a:ext cx="1681382" cy="1115480"/>
            <a:chOff x="14716018" y="46468"/>
            <a:chExt cx="1681382" cy="111548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3E18B94-6E5D-427D-9DCF-739459C618C2}"/>
                </a:ext>
              </a:extLst>
            </p:cNvPr>
            <p:cNvSpPr/>
            <p:nvPr/>
          </p:nvSpPr>
          <p:spPr>
            <a:xfrm rot="5400000">
              <a:off x="15212232" y="423980"/>
              <a:ext cx="255194" cy="117790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FBDE6C92-017E-4AF7-9EA9-C667941DE75B}"/>
                </a:ext>
              </a:extLst>
            </p:cNvPr>
            <p:cNvGrpSpPr/>
            <p:nvPr/>
          </p:nvGrpSpPr>
          <p:grpSpPr>
            <a:xfrm>
              <a:off x="14716018" y="46468"/>
              <a:ext cx="1681382" cy="1115480"/>
              <a:chOff x="14716018" y="46468"/>
              <a:chExt cx="1681382" cy="1115480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31C9825-785F-4511-B746-3FE5D72B2FB5}"/>
                  </a:ext>
                </a:extLst>
              </p:cNvPr>
              <p:cNvSpPr txBox="1"/>
              <p:nvPr/>
            </p:nvSpPr>
            <p:spPr>
              <a:xfrm>
                <a:off x="14815982" y="46468"/>
                <a:ext cx="10679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Volume 1</a:t>
                </a:r>
              </a:p>
            </p:txBody>
          </p: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F936677-C8E2-4488-90BF-DB9FE60E1D6C}"/>
                  </a:ext>
                </a:extLst>
              </p:cNvPr>
              <p:cNvGrpSpPr/>
              <p:nvPr/>
            </p:nvGrpSpPr>
            <p:grpSpPr>
              <a:xfrm>
                <a:off x="14716018" y="403261"/>
                <a:ext cx="1681382" cy="758687"/>
                <a:chOff x="14780400" y="743654"/>
                <a:chExt cx="1681382" cy="758687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EEBD1B43-F312-4694-B056-E4A325D115F1}"/>
                    </a:ext>
                  </a:extLst>
                </p:cNvPr>
                <p:cNvGrpSpPr/>
                <p:nvPr/>
              </p:nvGrpSpPr>
              <p:grpSpPr>
                <a:xfrm>
                  <a:off x="14780400" y="743654"/>
                  <a:ext cx="1681382" cy="758687"/>
                  <a:chOff x="18291943" y="1141220"/>
                  <a:chExt cx="1681382" cy="758687"/>
                </a:xfrm>
              </p:grpSpPr>
              <p:grpSp>
                <p:nvGrpSpPr>
                  <p:cNvPr id="100" name="Group 99">
                    <a:extLst>
                      <a:ext uri="{FF2B5EF4-FFF2-40B4-BE49-F238E27FC236}">
                        <a16:creationId xmlns:a16="http://schemas.microsoft.com/office/drawing/2014/main" id="{062E3789-37E0-4341-9877-3339DAB10B30}"/>
                      </a:ext>
                    </a:extLst>
                  </p:cNvPr>
                  <p:cNvGrpSpPr/>
                  <p:nvPr/>
                </p:nvGrpSpPr>
                <p:grpSpPr>
                  <a:xfrm>
                    <a:off x="18353496" y="1141220"/>
                    <a:ext cx="1081385" cy="451497"/>
                    <a:chOff x="17346930" y="3712879"/>
                    <a:chExt cx="2677990" cy="1118109"/>
                  </a:xfrm>
                </p:grpSpPr>
                <p:grpSp>
                  <p:nvGrpSpPr>
                    <p:cNvPr id="81" name="Group 80">
                      <a:extLst>
                        <a:ext uri="{FF2B5EF4-FFF2-40B4-BE49-F238E27FC236}">
                          <a16:creationId xmlns:a16="http://schemas.microsoft.com/office/drawing/2014/main" id="{4E8530F4-811C-48CA-BE99-4F7100A7DD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46930" y="3712879"/>
                      <a:ext cx="2677990" cy="1118109"/>
                      <a:chOff x="17346930" y="3712879"/>
                      <a:chExt cx="2677990" cy="1118109"/>
                    </a:xfrm>
                  </p:grpSpPr>
                  <p:cxnSp>
                    <p:nvCxnSpPr>
                      <p:cNvPr id="55" name="Straight Connector 54">
                        <a:extLst>
                          <a:ext uri="{FF2B5EF4-FFF2-40B4-BE49-F238E27FC236}">
                            <a16:creationId xmlns:a16="http://schemas.microsoft.com/office/drawing/2014/main" id="{78142E26-3024-43E5-B76A-9382F5FDA16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7723091" y="3712879"/>
                        <a:ext cx="0" cy="11181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6" name="Straight Connector 55">
                        <a:extLst>
                          <a:ext uri="{FF2B5EF4-FFF2-40B4-BE49-F238E27FC236}">
                            <a16:creationId xmlns:a16="http://schemas.microsoft.com/office/drawing/2014/main" id="{83A164C0-3476-4AF5-B0BC-454ADFCC249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7346930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F170ED46-614F-4502-A740-A387AC3C7944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337530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Straight Connector 51">
                        <a:extLst>
                          <a:ext uri="{FF2B5EF4-FFF2-40B4-BE49-F238E27FC236}">
                            <a16:creationId xmlns:a16="http://schemas.microsoft.com/office/drawing/2014/main" id="{EABE18FD-67D1-44D1-A45E-9362F2086ED4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7530117" y="3712879"/>
                        <a:ext cx="0" cy="1118109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4" name="Straight Connector 53">
                        <a:extLst>
                          <a:ext uri="{FF2B5EF4-FFF2-40B4-BE49-F238E27FC236}">
                            <a16:creationId xmlns:a16="http://schemas.microsoft.com/office/drawing/2014/main" id="{C9844BA8-831E-4104-87BA-F79C21FD6834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7870954" y="3712879"/>
                        <a:ext cx="0" cy="1118109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7" name="Straight Connector 56">
                        <a:extLst>
                          <a:ext uri="{FF2B5EF4-FFF2-40B4-BE49-F238E27FC236}">
                            <a16:creationId xmlns:a16="http://schemas.microsoft.com/office/drawing/2014/main" id="{F4D071D6-64C5-46F9-AB6D-274D51B7B9C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028537" y="3712879"/>
                        <a:ext cx="0" cy="11181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8" name="Straight Connector 57">
                        <a:extLst>
                          <a:ext uri="{FF2B5EF4-FFF2-40B4-BE49-F238E27FC236}">
                            <a16:creationId xmlns:a16="http://schemas.microsoft.com/office/drawing/2014/main" id="{47877EEB-BF82-4623-8CE5-486578119018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162253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Straight Connector 61">
                        <a:extLst>
                          <a:ext uri="{FF2B5EF4-FFF2-40B4-BE49-F238E27FC236}">
                            <a16:creationId xmlns:a16="http://schemas.microsoft.com/office/drawing/2014/main" id="{46FD4497-EF14-418D-92A8-486FE4FD85DD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619453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>
                        <a:extLst>
                          <a:ext uri="{FF2B5EF4-FFF2-40B4-BE49-F238E27FC236}">
                            <a16:creationId xmlns:a16="http://schemas.microsoft.com/office/drawing/2014/main" id="{DAEB5497-4894-4897-A06D-EF2C49274E1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935584" y="3712879"/>
                        <a:ext cx="0" cy="1118109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Straight Connector 63">
                        <a:extLst>
                          <a:ext uri="{FF2B5EF4-FFF2-40B4-BE49-F238E27FC236}">
                            <a16:creationId xmlns:a16="http://schemas.microsoft.com/office/drawing/2014/main" id="{FA7003ED-F966-409D-891A-1A206DD83C0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9276421" y="3712879"/>
                        <a:ext cx="0" cy="1118109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5" name="Straight Connector 64">
                        <a:extLst>
                          <a:ext uri="{FF2B5EF4-FFF2-40B4-BE49-F238E27FC236}">
                            <a16:creationId xmlns:a16="http://schemas.microsoft.com/office/drawing/2014/main" id="{F0C67D7C-57FC-4780-8A11-5E04D3DACBD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9122957" y="3712879"/>
                        <a:ext cx="0" cy="11181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6" name="Straight Connector 65">
                        <a:extLst>
                          <a:ext uri="{FF2B5EF4-FFF2-40B4-BE49-F238E27FC236}">
                            <a16:creationId xmlns:a16="http://schemas.microsoft.com/office/drawing/2014/main" id="{7EFFBCC5-C350-436C-8687-F318B15BA80F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746796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7" name="Straight Connector 66">
                        <a:extLst>
                          <a:ext uri="{FF2B5EF4-FFF2-40B4-BE49-F238E27FC236}">
                            <a16:creationId xmlns:a16="http://schemas.microsoft.com/office/drawing/2014/main" id="{461261E7-CF22-431E-8AB2-EECFB422FBF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9434004" y="3712879"/>
                        <a:ext cx="0" cy="11181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Straight Connector 67">
                        <a:extLst>
                          <a:ext uri="{FF2B5EF4-FFF2-40B4-BE49-F238E27FC236}">
                            <a16:creationId xmlns:a16="http://schemas.microsoft.com/office/drawing/2014/main" id="{FDFCA7DC-473C-4ACB-AAF0-3AF8BBF0B19A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9567720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Straight Connector 69">
                        <a:extLst>
                          <a:ext uri="{FF2B5EF4-FFF2-40B4-BE49-F238E27FC236}">
                            <a16:creationId xmlns:a16="http://schemas.microsoft.com/office/drawing/2014/main" id="{70CA8AF3-464F-4BD7-B0EE-7CEB3BE9A6D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9737396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Straight Connector 70">
                        <a:extLst>
                          <a:ext uri="{FF2B5EF4-FFF2-40B4-BE49-F238E27FC236}">
                            <a16:creationId xmlns:a16="http://schemas.microsoft.com/office/drawing/2014/main" id="{17A97DFA-E476-4BA9-BED0-391C470CC7A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20024920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99" name="Straight Connector 98">
                      <a:extLst>
                        <a:ext uri="{FF2B5EF4-FFF2-40B4-BE49-F238E27FC236}">
                          <a16:creationId xmlns:a16="http://schemas.microsoft.com/office/drawing/2014/main" id="{0DE93009-1D2F-49EC-9C68-799A392CEE5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7637760" y="3712879"/>
                      <a:ext cx="0" cy="1116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Straight Connector 102">
                      <a:extLst>
                        <a:ext uri="{FF2B5EF4-FFF2-40B4-BE49-F238E27FC236}">
                          <a16:creationId xmlns:a16="http://schemas.microsoft.com/office/drawing/2014/main" id="{6CFE584E-AB3D-4EE4-AEEB-919962F4900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7769840" y="3712879"/>
                      <a:ext cx="0" cy="1116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Straight Connector 103">
                      <a:extLst>
                        <a:ext uri="{FF2B5EF4-FFF2-40B4-BE49-F238E27FC236}">
                          <a16:creationId xmlns:a16="http://schemas.microsoft.com/office/drawing/2014/main" id="{8D729D94-EEEE-4932-A0E8-15FBCEC448F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8044863" y="3712879"/>
                      <a:ext cx="0" cy="1116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" name="Straight Connector 104">
                      <a:extLst>
                        <a:ext uri="{FF2B5EF4-FFF2-40B4-BE49-F238E27FC236}">
                          <a16:creationId xmlns:a16="http://schemas.microsoft.com/office/drawing/2014/main" id="{6A573713-17EC-45F0-B57C-9A6CC16B3DB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8400463" y="3712879"/>
                      <a:ext cx="0" cy="1116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" name="Straight Connector 105">
                      <a:extLst>
                        <a:ext uri="{FF2B5EF4-FFF2-40B4-BE49-F238E27FC236}">
                          <a16:creationId xmlns:a16="http://schemas.microsoft.com/office/drawing/2014/main" id="{7C3C97BE-76FC-4FE3-B2FE-14444D58AFD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8801783" y="3712879"/>
                      <a:ext cx="0" cy="1116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Straight Connector 107">
                      <a:extLst>
                        <a:ext uri="{FF2B5EF4-FFF2-40B4-BE49-F238E27FC236}">
                          <a16:creationId xmlns:a16="http://schemas.microsoft.com/office/drawing/2014/main" id="{D476BC53-ED64-4EDA-AC56-8EB88BC8AE0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177704" y="3712879"/>
                      <a:ext cx="0" cy="1116655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Straight Connector 108">
                      <a:extLst>
                        <a:ext uri="{FF2B5EF4-FFF2-40B4-BE49-F238E27FC236}">
                          <a16:creationId xmlns:a16="http://schemas.microsoft.com/office/drawing/2014/main" id="{DE1CF90C-E2A4-454B-8035-DD6A7DF1410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660303" y="3712879"/>
                      <a:ext cx="0" cy="1116656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Straight Connector 109">
                      <a:extLst>
                        <a:ext uri="{FF2B5EF4-FFF2-40B4-BE49-F238E27FC236}">
                          <a16:creationId xmlns:a16="http://schemas.microsoft.com/office/drawing/2014/main" id="{9055FFCB-9D8D-41BD-97AB-9EF6EDE0054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939703" y="3712879"/>
                      <a:ext cx="0" cy="1116656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70084967-5B90-4C89-B0C2-BF5CB7C0A296}"/>
                      </a:ext>
                    </a:extLst>
                  </p:cNvPr>
                  <p:cNvSpPr txBox="1"/>
                  <p:nvPr/>
                </p:nvSpPr>
                <p:spPr>
                  <a:xfrm>
                    <a:off x="18291943" y="1592130"/>
                    <a:ext cx="168138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>
                        <a:solidFill>
                          <a:schemeClr val="bg1"/>
                        </a:solidFill>
                      </a:rPr>
                      <a:t>OCTOBER2020</a:t>
                    </a:r>
                  </a:p>
                </p:txBody>
              </p:sp>
            </p:grp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A2E15F66-53A5-41AA-822C-385D7D8022D4}"/>
                    </a:ext>
                  </a:extLst>
                </p:cNvPr>
                <p:cNvCxnSpPr/>
                <p:nvPr/>
              </p:nvCxnSpPr>
              <p:spPr>
                <a:xfrm>
                  <a:off x="14780400" y="743654"/>
                  <a:ext cx="0" cy="7267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6758E35B-8626-45BB-BD59-AC28A32CFCDF}"/>
                    </a:ext>
                  </a:extLst>
                </p:cNvPr>
                <p:cNvCxnSpPr/>
                <p:nvPr/>
              </p:nvCxnSpPr>
              <p:spPr>
                <a:xfrm>
                  <a:off x="16022884" y="743654"/>
                  <a:ext cx="0" cy="7267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F10E03F-54FF-4444-A256-64E6E034E88C}"/>
              </a:ext>
            </a:extLst>
          </p:cNvPr>
          <p:cNvSpPr/>
          <p:nvPr/>
        </p:nvSpPr>
        <p:spPr>
          <a:xfrm>
            <a:off x="10151848" y="1843732"/>
            <a:ext cx="2994705" cy="7103531"/>
          </a:xfrm>
          <a:prstGeom prst="rect">
            <a:avLst/>
          </a:prstGeom>
          <a:solidFill>
            <a:schemeClr val="dk1">
              <a:alpha val="5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18">
            <a:extLst>
              <a:ext uri="{FF2B5EF4-FFF2-40B4-BE49-F238E27FC236}">
                <a16:creationId xmlns:a16="http://schemas.microsoft.com/office/drawing/2014/main" id="{A5BA1817-3DED-419B-80F0-BA3A39FE7467}"/>
              </a:ext>
            </a:extLst>
          </p:cNvPr>
          <p:cNvSpPr txBox="1"/>
          <p:nvPr/>
        </p:nvSpPr>
        <p:spPr>
          <a:xfrm>
            <a:off x="10395979" y="2154075"/>
            <a:ext cx="263467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endParaRPr lang="en-US" sz="2800" b="1" dirty="0">
              <a:solidFill>
                <a:schemeClr val="bg1"/>
              </a:solidFill>
              <a:latin typeface="Open Sans Extra Bold"/>
            </a:endParaRPr>
          </a:p>
        </p:txBody>
      </p:sp>
      <p:sp>
        <p:nvSpPr>
          <p:cNvPr id="73" name="TextBox 18">
            <a:extLst>
              <a:ext uri="{FF2B5EF4-FFF2-40B4-BE49-F238E27FC236}">
                <a16:creationId xmlns:a16="http://schemas.microsoft.com/office/drawing/2014/main" id="{A5BA1817-3DED-419B-80F0-BA3A39FE7467}"/>
              </a:ext>
            </a:extLst>
          </p:cNvPr>
          <p:cNvSpPr txBox="1"/>
          <p:nvPr/>
        </p:nvSpPr>
        <p:spPr>
          <a:xfrm>
            <a:off x="10437197" y="2154075"/>
            <a:ext cx="3136245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800" b="1" dirty="0" smtClean="0">
                <a:solidFill>
                  <a:schemeClr val="bg1"/>
                </a:solidFill>
                <a:latin typeface="Open Sans Extra Bold"/>
              </a:rPr>
              <a:t>Sept Update</a:t>
            </a:r>
            <a:endParaRPr lang="en-US" sz="2800" b="1" dirty="0">
              <a:solidFill>
                <a:schemeClr val="bg1"/>
              </a:solidFill>
              <a:latin typeface="Open Sans Extra Bold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9F81081-0321-408B-9C6B-E5653BA43768}"/>
              </a:ext>
            </a:extLst>
          </p:cNvPr>
          <p:cNvSpPr txBox="1"/>
          <p:nvPr/>
        </p:nvSpPr>
        <p:spPr>
          <a:xfrm>
            <a:off x="10394845" y="2682660"/>
            <a:ext cx="240865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692</a:t>
            </a:r>
            <a:r>
              <a:rPr lang="en-US" dirty="0" smtClean="0">
                <a:solidFill>
                  <a:schemeClr val="bg1"/>
                </a:solidFill>
              </a:rPr>
              <a:t> Leaders registered in the Lead Page.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20/20 challenge - …. Managers completed 20 hours of learning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LinkedIn Learning- ….  LinkedIn Learning completed for…. Managers.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Live </a:t>
            </a:r>
            <a:r>
              <a:rPr lang="en-US" dirty="0" smtClean="0">
                <a:solidFill>
                  <a:schemeClr val="bg1"/>
                </a:solidFill>
              </a:rPr>
              <a:t>sessions - … sessions conducted for …. Manager so far</a:t>
            </a:r>
            <a:r>
              <a:rPr lang="en-US" dirty="0" smtClean="0">
                <a:solidFill>
                  <a:schemeClr val="bg1"/>
                </a:solidFill>
              </a:rPr>
              <a:t>. Book your seat if you haven’t attended.</a:t>
            </a:r>
            <a:endParaRPr 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38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A0291DE-6D4D-49A1-89A2-0E0949028074}"/>
              </a:ext>
            </a:extLst>
          </p:cNvPr>
          <p:cNvGrpSpPr/>
          <p:nvPr/>
        </p:nvGrpSpPr>
        <p:grpSpPr>
          <a:xfrm>
            <a:off x="-3624202" y="-24157"/>
            <a:ext cx="17114409" cy="9601200"/>
            <a:chOff x="891983" y="536809"/>
            <a:chExt cx="9908097" cy="5558452"/>
          </a:xfrm>
        </p:grpSpPr>
        <p:pic>
          <p:nvPicPr>
            <p:cNvPr id="1026" name="Picture 2" descr="8 Top Tips on Becoming a Successful Business Leader">
              <a:extLst>
                <a:ext uri="{FF2B5EF4-FFF2-40B4-BE49-F238E27FC236}">
                  <a16:creationId xmlns:a16="http://schemas.microsoft.com/office/drawing/2014/main" id="{16F1B7E0-162A-4ED0-86D7-4F4A7F0AC4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9896" r="89864">
                          <a14:foregroundMark x1="53097" y1="31052" x2="54828" y2="38590"/>
                          <a14:foregroundMark x1="48683" y1="11828" x2="52447" y2="28223"/>
                          <a14:foregroundMark x1="61082" y1="53176" x2="64086" y2="59857"/>
                          <a14:foregroundMark x1="55706" y1="41219" x2="57481" y2="45167"/>
                          <a14:foregroundMark x1="64964" y1="59618" x2="68635" y2="64277"/>
                          <a14:foregroundMark x1="68955" y1="65114" x2="65283" y2="73716"/>
                          <a14:foregroundMark x1="57622" y1="46834" x2="58978" y2="50896"/>
                          <a14:foregroundMark x1="58978" y1="50896" x2="59218" y2="51254"/>
                          <a14:backgroundMark x1="59754" y1="50624" x2="61293" y2="52927"/>
                          <a14:backgroundMark x1="58021" y1="44922" x2="58319" y2="46350"/>
                          <a14:backgroundMark x1="53073" y1="27957" x2="53631" y2="3082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19"/>
            <a:stretch/>
          </p:blipFill>
          <p:spPr bwMode="auto">
            <a:xfrm>
              <a:off x="891983" y="536809"/>
              <a:ext cx="9908097" cy="55584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Freeform 18">
              <a:extLst>
                <a:ext uri="{FF2B5EF4-FFF2-40B4-BE49-F238E27FC236}">
                  <a16:creationId xmlns:a16="http://schemas.microsoft.com/office/drawing/2014/main" id="{A79BE43E-9E9B-4D21-BCD0-B2E58D5ACD39}"/>
                </a:ext>
              </a:extLst>
            </p:cNvPr>
            <p:cNvSpPr/>
            <p:nvPr/>
          </p:nvSpPr>
          <p:spPr>
            <a:xfrm rot="2691933">
              <a:off x="4216405" y="1203096"/>
              <a:ext cx="146285" cy="143319"/>
            </a:xfrm>
            <a:custGeom>
              <a:avLst/>
              <a:gdLst>
                <a:gd name="connsiteX0" fmla="*/ 287789 w 1133754"/>
                <a:gd name="connsiteY0" fmla="*/ 276913 h 1110768"/>
                <a:gd name="connsiteX1" fmla="*/ 284644 w 1133754"/>
                <a:gd name="connsiteY1" fmla="*/ 514776 h 1110768"/>
                <a:gd name="connsiteX2" fmla="*/ 532527 w 1133754"/>
                <a:gd name="connsiteY2" fmla="*/ 514669 h 1110768"/>
                <a:gd name="connsiteX3" fmla="*/ 533735 w 1133754"/>
                <a:gd name="connsiteY3" fmla="*/ 276913 h 1110768"/>
                <a:gd name="connsiteX4" fmla="*/ 10924 w 1133754"/>
                <a:gd name="connsiteY4" fmla="*/ 124 h 1110768"/>
                <a:gd name="connsiteX5" fmla="*/ 14635 w 1133754"/>
                <a:gd name="connsiteY5" fmla="*/ 124 h 1110768"/>
                <a:gd name="connsiteX6" fmla="*/ 14637 w 1133754"/>
                <a:gd name="connsiteY6" fmla="*/ 0 h 1110768"/>
                <a:gd name="connsiteX7" fmla="*/ 24033 w 1133754"/>
                <a:gd name="connsiteY7" fmla="*/ 124 h 1110768"/>
                <a:gd name="connsiteX8" fmla="*/ 1118130 w 1133754"/>
                <a:gd name="connsiteY8" fmla="*/ 124 h 1110768"/>
                <a:gd name="connsiteX9" fmla="*/ 1118130 w 1133754"/>
                <a:gd name="connsiteY9" fmla="*/ 276913 h 1110768"/>
                <a:gd name="connsiteX10" fmla="*/ 810527 w 1133754"/>
                <a:gd name="connsiteY10" fmla="*/ 276913 h 1110768"/>
                <a:gd name="connsiteX11" fmla="*/ 809320 w 1133754"/>
                <a:gd name="connsiteY11" fmla="*/ 514550 h 1110768"/>
                <a:gd name="connsiteX12" fmla="*/ 1133634 w 1133754"/>
                <a:gd name="connsiteY12" fmla="*/ 514409 h 1110768"/>
                <a:gd name="connsiteX13" fmla="*/ 1133754 w 1133754"/>
                <a:gd name="connsiteY13" fmla="*/ 791198 h 1110768"/>
                <a:gd name="connsiteX14" fmla="*/ 807914 w 1133754"/>
                <a:gd name="connsiteY14" fmla="*/ 791339 h 1110768"/>
                <a:gd name="connsiteX15" fmla="*/ 806294 w 1133754"/>
                <a:gd name="connsiteY15" fmla="*/ 1110344 h 1110768"/>
                <a:gd name="connsiteX16" fmla="*/ 529508 w 1133754"/>
                <a:gd name="connsiteY16" fmla="*/ 1108938 h 1110768"/>
                <a:gd name="connsiteX17" fmla="*/ 531121 w 1133754"/>
                <a:gd name="connsiteY17" fmla="*/ 791459 h 1110768"/>
                <a:gd name="connsiteX18" fmla="*/ 280985 w 1133754"/>
                <a:gd name="connsiteY18" fmla="*/ 791567 h 1110768"/>
                <a:gd name="connsiteX19" fmla="*/ 276765 w 1133754"/>
                <a:gd name="connsiteY19" fmla="*/ 1110768 h 1110768"/>
                <a:gd name="connsiteX20" fmla="*/ 0 w 1133754"/>
                <a:gd name="connsiteY20" fmla="*/ 1107109 h 1110768"/>
                <a:gd name="connsiteX21" fmla="*/ 10976 w 1133754"/>
                <a:gd name="connsiteY21" fmla="*/ 276913 h 1110768"/>
                <a:gd name="connsiteX22" fmla="*/ 10924 w 1133754"/>
                <a:gd name="connsiteY22" fmla="*/ 276913 h 111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33754" h="1110768">
                  <a:moveTo>
                    <a:pt x="287789" y="276913"/>
                  </a:moveTo>
                  <a:lnTo>
                    <a:pt x="284644" y="514776"/>
                  </a:lnTo>
                  <a:lnTo>
                    <a:pt x="532527" y="514669"/>
                  </a:lnTo>
                  <a:lnTo>
                    <a:pt x="533735" y="276913"/>
                  </a:lnTo>
                  <a:close/>
                  <a:moveTo>
                    <a:pt x="10924" y="124"/>
                  </a:moveTo>
                  <a:lnTo>
                    <a:pt x="14635" y="124"/>
                  </a:lnTo>
                  <a:lnTo>
                    <a:pt x="14637" y="0"/>
                  </a:lnTo>
                  <a:lnTo>
                    <a:pt x="24033" y="124"/>
                  </a:lnTo>
                  <a:lnTo>
                    <a:pt x="1118130" y="124"/>
                  </a:lnTo>
                  <a:lnTo>
                    <a:pt x="1118130" y="276913"/>
                  </a:lnTo>
                  <a:lnTo>
                    <a:pt x="810527" y="276913"/>
                  </a:lnTo>
                  <a:lnTo>
                    <a:pt x="809320" y="514550"/>
                  </a:lnTo>
                  <a:lnTo>
                    <a:pt x="1133634" y="514409"/>
                  </a:lnTo>
                  <a:lnTo>
                    <a:pt x="1133754" y="791198"/>
                  </a:lnTo>
                  <a:lnTo>
                    <a:pt x="807914" y="791339"/>
                  </a:lnTo>
                  <a:lnTo>
                    <a:pt x="806294" y="1110344"/>
                  </a:lnTo>
                  <a:lnTo>
                    <a:pt x="529508" y="1108938"/>
                  </a:lnTo>
                  <a:lnTo>
                    <a:pt x="531121" y="791459"/>
                  </a:lnTo>
                  <a:lnTo>
                    <a:pt x="280985" y="791567"/>
                  </a:lnTo>
                  <a:lnTo>
                    <a:pt x="276765" y="1110768"/>
                  </a:lnTo>
                  <a:lnTo>
                    <a:pt x="0" y="1107109"/>
                  </a:lnTo>
                  <a:lnTo>
                    <a:pt x="10976" y="276913"/>
                  </a:lnTo>
                  <a:lnTo>
                    <a:pt x="10924" y="27691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perspectiveHeroicExtremeLeftFacing"/>
              <a:lightRig rig="threePt" dir="t"/>
            </a:scene3d>
            <a:sp3d>
              <a:bevelT w="12700" h="508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60" dirty="0"/>
            </a:p>
          </p:txBody>
        </p:sp>
      </p:grpSp>
      <p:sp>
        <p:nvSpPr>
          <p:cNvPr id="19" name="TextBox 17">
            <a:extLst>
              <a:ext uri="{FF2B5EF4-FFF2-40B4-BE49-F238E27FC236}">
                <a16:creationId xmlns:a16="http://schemas.microsoft.com/office/drawing/2014/main" id="{FF41130E-49E5-4735-B00A-A9D186251677}"/>
              </a:ext>
            </a:extLst>
          </p:cNvPr>
          <p:cNvSpPr txBox="1"/>
          <p:nvPr/>
        </p:nvSpPr>
        <p:spPr>
          <a:xfrm>
            <a:off x="11464882" y="7804673"/>
            <a:ext cx="1813854" cy="345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dirty="0">
                <a:solidFill>
                  <a:srgbClr val="FFFFFF"/>
                </a:solidFill>
                <a:latin typeface="Open Sans Bold"/>
              </a:rPr>
              <a:t>Register Me!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7395AE-C557-4FC8-99B5-6A97DDD9E19B}"/>
              </a:ext>
            </a:extLst>
          </p:cNvPr>
          <p:cNvSpPr txBox="1"/>
          <p:nvPr/>
        </p:nvSpPr>
        <p:spPr>
          <a:xfrm>
            <a:off x="23149212" y="-514994"/>
            <a:ext cx="1257638" cy="110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4"/>
              </a:lnSpc>
            </a:pPr>
            <a:r>
              <a:rPr lang="en-US" sz="1000" spc="158" dirty="0">
                <a:solidFill>
                  <a:srgbClr val="FFFFFF"/>
                </a:solidFill>
                <a:latin typeface="Libre Baskerville Bold"/>
              </a:rPr>
              <a:t>Volume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60E6E3-206C-4F1D-A972-EEEA3D2C636B}"/>
              </a:ext>
            </a:extLst>
          </p:cNvPr>
          <p:cNvSpPr/>
          <p:nvPr/>
        </p:nvSpPr>
        <p:spPr>
          <a:xfrm>
            <a:off x="12419630" y="1825615"/>
            <a:ext cx="4311666" cy="7103531"/>
          </a:xfrm>
          <a:prstGeom prst="rect">
            <a:avLst/>
          </a:prstGeom>
          <a:solidFill>
            <a:schemeClr val="dk1">
              <a:alpha val="5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1450E3D3-2334-46F9-9011-378E3DA52970}"/>
              </a:ext>
            </a:extLst>
          </p:cNvPr>
          <p:cNvSpPr txBox="1"/>
          <p:nvPr/>
        </p:nvSpPr>
        <p:spPr>
          <a:xfrm>
            <a:off x="13753466" y="9062180"/>
            <a:ext cx="2925971" cy="1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4"/>
              </a:lnSpc>
            </a:pP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Learn. Engage. Act. Deliver</a:t>
            </a:r>
            <a:endParaRPr lang="en-US" sz="1100" spc="176" dirty="0">
              <a:solidFill>
                <a:schemeClr val="accent2">
                  <a:lumMod val="60000"/>
                  <a:lumOff val="40000"/>
                </a:schemeClr>
              </a:solidFill>
              <a:latin typeface="Libre Baskerville Italics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08DFA26-0236-4F17-9857-53F125A60D3F}"/>
              </a:ext>
            </a:extLst>
          </p:cNvPr>
          <p:cNvGrpSpPr/>
          <p:nvPr/>
        </p:nvGrpSpPr>
        <p:grpSpPr>
          <a:xfrm>
            <a:off x="13420230" y="8178018"/>
            <a:ext cx="2086219" cy="505046"/>
            <a:chOff x="21467371" y="8604250"/>
            <a:chExt cx="2086219" cy="505046"/>
          </a:xfrm>
        </p:grpSpPr>
        <p:grpSp>
          <p:nvGrpSpPr>
            <p:cNvPr id="34" name="Group 9">
              <a:extLst>
                <a:ext uri="{FF2B5EF4-FFF2-40B4-BE49-F238E27FC236}">
                  <a16:creationId xmlns:a16="http://schemas.microsoft.com/office/drawing/2014/main" id="{5CB7D1F9-D784-4ABF-AC29-5AB2D307177A}"/>
                </a:ext>
              </a:extLst>
            </p:cNvPr>
            <p:cNvGrpSpPr/>
            <p:nvPr/>
          </p:nvGrpSpPr>
          <p:grpSpPr>
            <a:xfrm>
              <a:off x="21467371" y="8604250"/>
              <a:ext cx="2086219" cy="505046"/>
              <a:chOff x="0" y="0"/>
              <a:chExt cx="3743134" cy="1342562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4A8937A2-0730-43B0-88D4-52C5327747E8}"/>
                  </a:ext>
                </a:extLst>
              </p:cNvPr>
              <p:cNvSpPr/>
              <p:nvPr/>
            </p:nvSpPr>
            <p:spPr>
              <a:xfrm>
                <a:off x="0" y="0"/>
                <a:ext cx="3743134" cy="1342562"/>
              </a:xfrm>
              <a:custGeom>
                <a:avLst/>
                <a:gdLst/>
                <a:ahLst/>
                <a:cxnLst/>
                <a:rect l="l" t="t" r="r" b="b"/>
                <a:pathLst>
                  <a:path w="3743134" h="1342562">
                    <a:moveTo>
                      <a:pt x="0" y="0"/>
                    </a:moveTo>
                    <a:lnTo>
                      <a:pt x="3743134" y="0"/>
                    </a:lnTo>
                    <a:lnTo>
                      <a:pt x="3743134" y="1342562"/>
                    </a:lnTo>
                    <a:lnTo>
                      <a:pt x="0" y="1342562"/>
                    </a:lnTo>
                    <a:close/>
                  </a:path>
                </a:pathLst>
              </a:custGeom>
              <a:solidFill>
                <a:srgbClr val="FF0000">
                  <a:alpha val="82745"/>
                </a:srgbClr>
              </a:solidFill>
            </p:spPr>
          </p:sp>
        </p:grpSp>
        <p:sp>
          <p:nvSpPr>
            <p:cNvPr id="35" name="TextBox 17">
              <a:hlinkClick r:id="rId4"/>
              <a:extLst>
                <a:ext uri="{FF2B5EF4-FFF2-40B4-BE49-F238E27FC236}">
                  <a16:creationId xmlns:a16="http://schemas.microsoft.com/office/drawing/2014/main" id="{E8A206A5-16A6-4AF7-901F-E71942A2D402}"/>
                </a:ext>
              </a:extLst>
            </p:cNvPr>
            <p:cNvSpPr txBox="1"/>
            <p:nvPr/>
          </p:nvSpPr>
          <p:spPr>
            <a:xfrm>
              <a:off x="21558517" y="8640091"/>
              <a:ext cx="1813854" cy="3451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dirty="0">
                  <a:solidFill>
                    <a:srgbClr val="FFFFFF"/>
                  </a:solidFill>
                  <a:latin typeface="Open Sans Bold"/>
                </a:rPr>
                <a:t>Register Me!</a:t>
              </a:r>
            </a:p>
          </p:txBody>
        </p:sp>
      </p:grpSp>
      <p:sp>
        <p:nvSpPr>
          <p:cNvPr id="32" name="TextBox 20">
            <a:extLst>
              <a:ext uri="{FF2B5EF4-FFF2-40B4-BE49-F238E27FC236}">
                <a16:creationId xmlns:a16="http://schemas.microsoft.com/office/drawing/2014/main" id="{22F2D579-8676-4FCE-8D00-9DF8EB427037}"/>
              </a:ext>
            </a:extLst>
          </p:cNvPr>
          <p:cNvSpPr txBox="1"/>
          <p:nvPr/>
        </p:nvSpPr>
        <p:spPr>
          <a:xfrm>
            <a:off x="12639992" y="2077781"/>
            <a:ext cx="364660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Open Sans Extra Bold"/>
              </a:rPr>
              <a:t>LEAD</a:t>
            </a:r>
            <a:r>
              <a:rPr lang="en-US" sz="2400" dirty="0">
                <a:solidFill>
                  <a:schemeClr val="bg1"/>
                </a:solidFill>
                <a:latin typeface="Open Sans Extra Bold"/>
              </a:rPr>
              <a:t> </a:t>
            </a:r>
          </a:p>
          <a:p>
            <a:r>
              <a:rPr lang="en-US" sz="2400" dirty="0">
                <a:solidFill>
                  <a:schemeClr val="bg1"/>
                </a:solidFill>
                <a:latin typeface="Open Sans Extra Bold"/>
              </a:rPr>
              <a:t>Live Sessions</a:t>
            </a: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9E8F88FD-F524-434E-87C2-4020C828635B}"/>
              </a:ext>
            </a:extLst>
          </p:cNvPr>
          <p:cNvSpPr txBox="1"/>
          <p:nvPr/>
        </p:nvSpPr>
        <p:spPr>
          <a:xfrm>
            <a:off x="12655332" y="5764047"/>
            <a:ext cx="2666411" cy="720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b="1" dirty="0">
                <a:solidFill>
                  <a:schemeClr val="bg1"/>
                </a:solidFill>
                <a:latin typeface="Open Sans Extra Bold"/>
              </a:rPr>
              <a:t>MINT</a:t>
            </a:r>
            <a:r>
              <a:rPr lang="en-US" sz="2400" dirty="0">
                <a:solidFill>
                  <a:schemeClr val="bg1"/>
                </a:solidFill>
                <a:latin typeface="Open Sans Extra Bold"/>
              </a:rPr>
              <a:t> </a:t>
            </a:r>
          </a:p>
          <a:p>
            <a:pPr>
              <a:lnSpc>
                <a:spcPts val="2940"/>
              </a:lnSpc>
            </a:pPr>
            <a:r>
              <a:rPr lang="en-US" sz="2400" dirty="0">
                <a:solidFill>
                  <a:schemeClr val="bg1"/>
                </a:solidFill>
                <a:latin typeface="Open Sans Extra Bold"/>
              </a:rPr>
              <a:t>Live Sessions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F771A1-3F89-41F1-AC5D-62830449B234}"/>
              </a:ext>
            </a:extLst>
          </p:cNvPr>
          <p:cNvSpPr txBox="1"/>
          <p:nvPr/>
        </p:nvSpPr>
        <p:spPr>
          <a:xfrm>
            <a:off x="12860130" y="3734295"/>
            <a:ext cx="3855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</a:rPr>
              <a:t>Mastering Motivation for Self and Teams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</a:rPr>
              <a:t>Art of Delegation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</a:rPr>
              <a:t>Leadership Styles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AC9296-4A52-49DB-B274-CC1624502E51}"/>
              </a:ext>
            </a:extLst>
          </p:cNvPr>
          <p:cNvSpPr txBox="1"/>
          <p:nvPr/>
        </p:nvSpPr>
        <p:spPr>
          <a:xfrm>
            <a:off x="12597576" y="2919146"/>
            <a:ext cx="3914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Leadership session scheduled for our Leaders. </a:t>
            </a:r>
            <a:r>
              <a:rPr lang="en-US" sz="1600" dirty="0">
                <a:solidFill>
                  <a:schemeClr val="bg1"/>
                </a:solidFill>
              </a:rPr>
              <a:t>Click on Register me to choose your preferred session in October.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C1A57A-3447-4CA9-83A7-13A2B3ABA95A}"/>
              </a:ext>
            </a:extLst>
          </p:cNvPr>
          <p:cNvGrpSpPr/>
          <p:nvPr/>
        </p:nvGrpSpPr>
        <p:grpSpPr>
          <a:xfrm>
            <a:off x="13433468" y="5056956"/>
            <a:ext cx="2086219" cy="505046"/>
            <a:chOff x="21438552" y="6413500"/>
            <a:chExt cx="2086219" cy="505046"/>
          </a:xfrm>
          <a:solidFill>
            <a:srgbClr val="FF0000"/>
          </a:solidFill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11708D31-785B-4F48-9E85-BD72B2316E63}"/>
                </a:ext>
              </a:extLst>
            </p:cNvPr>
            <p:cNvGrpSpPr/>
            <p:nvPr/>
          </p:nvGrpSpPr>
          <p:grpSpPr>
            <a:xfrm>
              <a:off x="21438552" y="6413500"/>
              <a:ext cx="2086219" cy="505046"/>
              <a:chOff x="0" y="658332"/>
              <a:chExt cx="3743134" cy="1342562"/>
            </a:xfrm>
            <a:grpFill/>
          </p:grpSpPr>
          <p:sp>
            <p:nvSpPr>
              <p:cNvPr id="44" name="Freeform 10">
                <a:extLst>
                  <a:ext uri="{FF2B5EF4-FFF2-40B4-BE49-F238E27FC236}">
                    <a16:creationId xmlns:a16="http://schemas.microsoft.com/office/drawing/2014/main" id="{5104821F-140A-4C4A-82EA-6631826A8ACD}"/>
                  </a:ext>
                </a:extLst>
              </p:cNvPr>
              <p:cNvSpPr/>
              <p:nvPr/>
            </p:nvSpPr>
            <p:spPr>
              <a:xfrm>
                <a:off x="0" y="658332"/>
                <a:ext cx="3743134" cy="1342562"/>
              </a:xfrm>
              <a:custGeom>
                <a:avLst/>
                <a:gdLst/>
                <a:ahLst/>
                <a:cxnLst/>
                <a:rect l="l" t="t" r="r" b="b"/>
                <a:pathLst>
                  <a:path w="3743134" h="1342562">
                    <a:moveTo>
                      <a:pt x="0" y="0"/>
                    </a:moveTo>
                    <a:lnTo>
                      <a:pt x="3743134" y="0"/>
                    </a:lnTo>
                    <a:lnTo>
                      <a:pt x="3743134" y="1342562"/>
                    </a:lnTo>
                    <a:lnTo>
                      <a:pt x="0" y="1342562"/>
                    </a:lnTo>
                    <a:close/>
                  </a:path>
                </a:pathLst>
              </a:custGeom>
              <a:grpFill/>
            </p:spPr>
          </p:sp>
        </p:grpSp>
        <p:sp>
          <p:nvSpPr>
            <p:cNvPr id="40" name="TextBox 17">
              <a:extLst>
                <a:ext uri="{FF2B5EF4-FFF2-40B4-BE49-F238E27FC236}">
                  <a16:creationId xmlns:a16="http://schemas.microsoft.com/office/drawing/2014/main" id="{5953066E-54E1-4CC0-B21D-C326FE2FDC97}"/>
                </a:ext>
              </a:extLst>
            </p:cNvPr>
            <p:cNvSpPr txBox="1"/>
            <p:nvPr/>
          </p:nvSpPr>
          <p:spPr>
            <a:xfrm>
              <a:off x="21529698" y="6449341"/>
              <a:ext cx="1813854" cy="331501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dirty="0">
                  <a:solidFill>
                    <a:srgbClr val="FFFFFF"/>
                  </a:solidFill>
                  <a:latin typeface="Open Sans Bold"/>
                  <a:hlinkClick r:id="rId5"/>
                </a:rPr>
                <a:t>Register Me!</a:t>
              </a:r>
              <a:endParaRPr lang="en-US" dirty="0">
                <a:solidFill>
                  <a:srgbClr val="FFFFFF"/>
                </a:solidFill>
                <a:latin typeface="Open Sans Bold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5992FA98-7DDF-44FE-9DF4-416E5874284D}"/>
              </a:ext>
            </a:extLst>
          </p:cNvPr>
          <p:cNvSpPr/>
          <p:nvPr/>
        </p:nvSpPr>
        <p:spPr>
          <a:xfrm>
            <a:off x="3904364" y="1868389"/>
            <a:ext cx="4085934" cy="7103531"/>
          </a:xfrm>
          <a:prstGeom prst="rect">
            <a:avLst/>
          </a:prstGeom>
          <a:solidFill>
            <a:schemeClr val="dk1">
              <a:alpha val="5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C7FEED49-6B63-4113-A44C-DE324C38BDF3}"/>
              </a:ext>
            </a:extLst>
          </p:cNvPr>
          <p:cNvSpPr txBox="1"/>
          <p:nvPr/>
        </p:nvSpPr>
        <p:spPr>
          <a:xfrm>
            <a:off x="4189421" y="2154075"/>
            <a:ext cx="263467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800" b="1" dirty="0">
                <a:solidFill>
                  <a:schemeClr val="bg1"/>
                </a:solidFill>
                <a:latin typeface="Open Sans Extra Bold"/>
              </a:rPr>
              <a:t>What’s New!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0EA8B1-E2C1-4937-970C-FF72B5B63AB0}"/>
              </a:ext>
            </a:extLst>
          </p:cNvPr>
          <p:cNvSpPr txBox="1"/>
          <p:nvPr/>
        </p:nvSpPr>
        <p:spPr>
          <a:xfrm>
            <a:off x="4138993" y="2800910"/>
            <a:ext cx="3567908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Trending Now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Al-Futtaim Leaders Interview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Leadership Podcast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LinkedIn Learning Recommendations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Leadership Tips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Monthly calendar </a:t>
            </a:r>
            <a:r>
              <a:rPr lang="en-US" dirty="0">
                <a:solidFill>
                  <a:schemeClr val="bg1"/>
                </a:solidFill>
              </a:rPr>
              <a:t>featuring LIVE leadership </a:t>
            </a:r>
            <a:r>
              <a:rPr lang="en-US" dirty="0" smtClean="0">
                <a:solidFill>
                  <a:schemeClr val="bg1"/>
                </a:solidFill>
              </a:rPr>
              <a:t>sessions &amp; the </a:t>
            </a:r>
            <a:r>
              <a:rPr lang="en-US" dirty="0">
                <a:solidFill>
                  <a:schemeClr val="bg1"/>
                </a:solidFill>
              </a:rPr>
              <a:t>MINT </a:t>
            </a:r>
            <a:r>
              <a:rPr lang="en-US" dirty="0" err="1" smtClean="0">
                <a:solidFill>
                  <a:schemeClr val="bg1"/>
                </a:solidFill>
              </a:rPr>
              <a:t>programme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</a:rPr>
              <a:t>You can even sign up to be a presenter to deliver a session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47EDFBC-CAFB-458C-97F8-027D9D81F350}"/>
              </a:ext>
            </a:extLst>
          </p:cNvPr>
          <p:cNvGrpSpPr/>
          <p:nvPr/>
        </p:nvGrpSpPr>
        <p:grpSpPr>
          <a:xfrm>
            <a:off x="7602992" y="134910"/>
            <a:ext cx="7172457" cy="1458541"/>
            <a:chOff x="8847750" y="97327"/>
            <a:chExt cx="7172457" cy="14585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9EEB4DC-03FA-40F2-A630-5C5671D0DBFF}"/>
                </a:ext>
              </a:extLst>
            </p:cNvPr>
            <p:cNvSpPr txBox="1"/>
            <p:nvPr/>
          </p:nvSpPr>
          <p:spPr>
            <a:xfrm>
              <a:off x="8847750" y="97327"/>
              <a:ext cx="717245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b="1" dirty="0">
                  <a:latin typeface="Rockwell" panose="02060603020205020403" pitchFamily="18" charset="0"/>
                </a:rPr>
                <a:t>INSIDE LEAD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47EC11-7A87-4749-90A4-5631221E491A}"/>
                </a:ext>
              </a:extLst>
            </p:cNvPr>
            <p:cNvSpPr txBox="1"/>
            <p:nvPr/>
          </p:nvSpPr>
          <p:spPr>
            <a:xfrm>
              <a:off x="8847751" y="1186536"/>
              <a:ext cx="71264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Your one stop, for all the essential tips and tricks of being a great Leader!</a:t>
              </a: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3962AF2A-4BE2-4E1B-973E-DAC702685333}"/>
              </a:ext>
            </a:extLst>
          </p:cNvPr>
          <p:cNvSpPr txBox="1"/>
          <p:nvPr/>
        </p:nvSpPr>
        <p:spPr>
          <a:xfrm>
            <a:off x="12607790" y="6516088"/>
            <a:ext cx="29401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A </a:t>
            </a:r>
            <a:r>
              <a:rPr lang="en-US" sz="1600" dirty="0" err="1" smtClean="0">
                <a:solidFill>
                  <a:schemeClr val="bg1"/>
                </a:solidFill>
              </a:rPr>
              <a:t>programme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for people managers </a:t>
            </a:r>
            <a:r>
              <a:rPr lang="en-US" sz="1600" dirty="0" smtClean="0">
                <a:solidFill>
                  <a:schemeClr val="bg1"/>
                </a:solidFill>
              </a:rPr>
              <a:t>designed </a:t>
            </a:r>
            <a:r>
              <a:rPr lang="en-US" sz="1600" dirty="0">
                <a:solidFill>
                  <a:schemeClr val="bg1"/>
                </a:solidFill>
              </a:rPr>
              <a:t>keeping your needs  in </a:t>
            </a:r>
            <a:r>
              <a:rPr lang="en-US" sz="1600" dirty="0" smtClean="0">
                <a:solidFill>
                  <a:schemeClr val="bg1"/>
                </a:solidFill>
              </a:rPr>
              <a:t>mind. </a:t>
            </a:r>
            <a:r>
              <a:rPr lang="en-US" sz="1600" dirty="0">
                <a:solidFill>
                  <a:schemeClr val="bg1"/>
                </a:solidFill>
              </a:rPr>
              <a:t>It is  divided into 6 </a:t>
            </a:r>
            <a:r>
              <a:rPr lang="en-US" sz="1600" dirty="0" smtClean="0">
                <a:solidFill>
                  <a:schemeClr val="bg1"/>
                </a:solidFill>
              </a:rPr>
              <a:t>module. Click on Register me to choose your preferred session in October.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59142F0-4CF1-4E5F-9489-08649F8A53A0}"/>
              </a:ext>
            </a:extLst>
          </p:cNvPr>
          <p:cNvGrpSpPr/>
          <p:nvPr/>
        </p:nvGrpSpPr>
        <p:grpSpPr>
          <a:xfrm>
            <a:off x="15030385" y="299012"/>
            <a:ext cx="1681382" cy="1115480"/>
            <a:chOff x="14716018" y="46468"/>
            <a:chExt cx="1681382" cy="111548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3E18B94-6E5D-427D-9DCF-739459C618C2}"/>
                </a:ext>
              </a:extLst>
            </p:cNvPr>
            <p:cNvSpPr/>
            <p:nvPr/>
          </p:nvSpPr>
          <p:spPr>
            <a:xfrm rot="5400000">
              <a:off x="15212232" y="423980"/>
              <a:ext cx="255194" cy="117790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FBDE6C92-017E-4AF7-9EA9-C667941DE75B}"/>
                </a:ext>
              </a:extLst>
            </p:cNvPr>
            <p:cNvGrpSpPr/>
            <p:nvPr/>
          </p:nvGrpSpPr>
          <p:grpSpPr>
            <a:xfrm>
              <a:off x="14716018" y="46468"/>
              <a:ext cx="1681382" cy="1115480"/>
              <a:chOff x="14716018" y="46468"/>
              <a:chExt cx="1681382" cy="1115480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31C9825-785F-4511-B746-3FE5D72B2FB5}"/>
                  </a:ext>
                </a:extLst>
              </p:cNvPr>
              <p:cNvSpPr txBox="1"/>
              <p:nvPr/>
            </p:nvSpPr>
            <p:spPr>
              <a:xfrm>
                <a:off x="14815982" y="46468"/>
                <a:ext cx="10679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Volume 1</a:t>
                </a:r>
              </a:p>
            </p:txBody>
          </p: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F936677-C8E2-4488-90BF-DB9FE60E1D6C}"/>
                  </a:ext>
                </a:extLst>
              </p:cNvPr>
              <p:cNvGrpSpPr/>
              <p:nvPr/>
            </p:nvGrpSpPr>
            <p:grpSpPr>
              <a:xfrm>
                <a:off x="14716018" y="403261"/>
                <a:ext cx="1681382" cy="758687"/>
                <a:chOff x="14780400" y="743654"/>
                <a:chExt cx="1681382" cy="758687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EEBD1B43-F312-4694-B056-E4A325D115F1}"/>
                    </a:ext>
                  </a:extLst>
                </p:cNvPr>
                <p:cNvGrpSpPr/>
                <p:nvPr/>
              </p:nvGrpSpPr>
              <p:grpSpPr>
                <a:xfrm>
                  <a:off x="14780400" y="743654"/>
                  <a:ext cx="1681382" cy="758687"/>
                  <a:chOff x="18291943" y="1141220"/>
                  <a:chExt cx="1681382" cy="758687"/>
                </a:xfrm>
              </p:grpSpPr>
              <p:grpSp>
                <p:nvGrpSpPr>
                  <p:cNvPr id="100" name="Group 99">
                    <a:extLst>
                      <a:ext uri="{FF2B5EF4-FFF2-40B4-BE49-F238E27FC236}">
                        <a16:creationId xmlns:a16="http://schemas.microsoft.com/office/drawing/2014/main" id="{062E3789-37E0-4341-9877-3339DAB10B30}"/>
                      </a:ext>
                    </a:extLst>
                  </p:cNvPr>
                  <p:cNvGrpSpPr/>
                  <p:nvPr/>
                </p:nvGrpSpPr>
                <p:grpSpPr>
                  <a:xfrm>
                    <a:off x="18353496" y="1141220"/>
                    <a:ext cx="1081385" cy="451497"/>
                    <a:chOff x="17346930" y="3712879"/>
                    <a:chExt cx="2677990" cy="1118109"/>
                  </a:xfrm>
                </p:grpSpPr>
                <p:grpSp>
                  <p:nvGrpSpPr>
                    <p:cNvPr id="81" name="Group 80">
                      <a:extLst>
                        <a:ext uri="{FF2B5EF4-FFF2-40B4-BE49-F238E27FC236}">
                          <a16:creationId xmlns:a16="http://schemas.microsoft.com/office/drawing/2014/main" id="{4E8530F4-811C-48CA-BE99-4F7100A7DD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46930" y="3712879"/>
                      <a:ext cx="2677990" cy="1118109"/>
                      <a:chOff x="17346930" y="3712879"/>
                      <a:chExt cx="2677990" cy="1118109"/>
                    </a:xfrm>
                  </p:grpSpPr>
                  <p:cxnSp>
                    <p:nvCxnSpPr>
                      <p:cNvPr id="55" name="Straight Connector 54">
                        <a:extLst>
                          <a:ext uri="{FF2B5EF4-FFF2-40B4-BE49-F238E27FC236}">
                            <a16:creationId xmlns:a16="http://schemas.microsoft.com/office/drawing/2014/main" id="{78142E26-3024-43E5-B76A-9382F5FDA16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7723091" y="3712879"/>
                        <a:ext cx="0" cy="11181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6" name="Straight Connector 55">
                        <a:extLst>
                          <a:ext uri="{FF2B5EF4-FFF2-40B4-BE49-F238E27FC236}">
                            <a16:creationId xmlns:a16="http://schemas.microsoft.com/office/drawing/2014/main" id="{83A164C0-3476-4AF5-B0BC-454ADFCC249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7346930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F170ED46-614F-4502-A740-A387AC3C7944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337530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Straight Connector 51">
                        <a:extLst>
                          <a:ext uri="{FF2B5EF4-FFF2-40B4-BE49-F238E27FC236}">
                            <a16:creationId xmlns:a16="http://schemas.microsoft.com/office/drawing/2014/main" id="{EABE18FD-67D1-44D1-A45E-9362F2086ED4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7530117" y="3712879"/>
                        <a:ext cx="0" cy="1118109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4" name="Straight Connector 53">
                        <a:extLst>
                          <a:ext uri="{FF2B5EF4-FFF2-40B4-BE49-F238E27FC236}">
                            <a16:creationId xmlns:a16="http://schemas.microsoft.com/office/drawing/2014/main" id="{C9844BA8-831E-4104-87BA-F79C21FD6834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7870954" y="3712879"/>
                        <a:ext cx="0" cy="1118109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7" name="Straight Connector 56">
                        <a:extLst>
                          <a:ext uri="{FF2B5EF4-FFF2-40B4-BE49-F238E27FC236}">
                            <a16:creationId xmlns:a16="http://schemas.microsoft.com/office/drawing/2014/main" id="{F4D071D6-64C5-46F9-AB6D-274D51B7B9C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028537" y="3712879"/>
                        <a:ext cx="0" cy="11181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8" name="Straight Connector 57">
                        <a:extLst>
                          <a:ext uri="{FF2B5EF4-FFF2-40B4-BE49-F238E27FC236}">
                            <a16:creationId xmlns:a16="http://schemas.microsoft.com/office/drawing/2014/main" id="{47877EEB-BF82-4623-8CE5-486578119018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162253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Straight Connector 61">
                        <a:extLst>
                          <a:ext uri="{FF2B5EF4-FFF2-40B4-BE49-F238E27FC236}">
                            <a16:creationId xmlns:a16="http://schemas.microsoft.com/office/drawing/2014/main" id="{46FD4497-EF14-418D-92A8-486FE4FD85DD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619453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>
                        <a:extLst>
                          <a:ext uri="{FF2B5EF4-FFF2-40B4-BE49-F238E27FC236}">
                            <a16:creationId xmlns:a16="http://schemas.microsoft.com/office/drawing/2014/main" id="{DAEB5497-4894-4897-A06D-EF2C49274E1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935584" y="3712879"/>
                        <a:ext cx="0" cy="1118109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Straight Connector 63">
                        <a:extLst>
                          <a:ext uri="{FF2B5EF4-FFF2-40B4-BE49-F238E27FC236}">
                            <a16:creationId xmlns:a16="http://schemas.microsoft.com/office/drawing/2014/main" id="{FA7003ED-F966-409D-891A-1A206DD83C0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9276421" y="3712879"/>
                        <a:ext cx="0" cy="1118109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5" name="Straight Connector 64">
                        <a:extLst>
                          <a:ext uri="{FF2B5EF4-FFF2-40B4-BE49-F238E27FC236}">
                            <a16:creationId xmlns:a16="http://schemas.microsoft.com/office/drawing/2014/main" id="{F0C67D7C-57FC-4780-8A11-5E04D3DACBD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9122957" y="3712879"/>
                        <a:ext cx="0" cy="11181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6" name="Straight Connector 65">
                        <a:extLst>
                          <a:ext uri="{FF2B5EF4-FFF2-40B4-BE49-F238E27FC236}">
                            <a16:creationId xmlns:a16="http://schemas.microsoft.com/office/drawing/2014/main" id="{7EFFBCC5-C350-436C-8687-F318B15BA80F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8746796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7" name="Straight Connector 66">
                        <a:extLst>
                          <a:ext uri="{FF2B5EF4-FFF2-40B4-BE49-F238E27FC236}">
                            <a16:creationId xmlns:a16="http://schemas.microsoft.com/office/drawing/2014/main" id="{461261E7-CF22-431E-8AB2-EECFB422FBFB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9434004" y="3712879"/>
                        <a:ext cx="0" cy="11181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Straight Connector 67">
                        <a:extLst>
                          <a:ext uri="{FF2B5EF4-FFF2-40B4-BE49-F238E27FC236}">
                            <a16:creationId xmlns:a16="http://schemas.microsoft.com/office/drawing/2014/main" id="{FDFCA7DC-473C-4ACB-AAF0-3AF8BBF0B19A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9567720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Straight Connector 69">
                        <a:extLst>
                          <a:ext uri="{FF2B5EF4-FFF2-40B4-BE49-F238E27FC236}">
                            <a16:creationId xmlns:a16="http://schemas.microsoft.com/office/drawing/2014/main" id="{70CA8AF3-464F-4BD7-B0EE-7CEB3BE9A6D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9737396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Straight Connector 70">
                        <a:extLst>
                          <a:ext uri="{FF2B5EF4-FFF2-40B4-BE49-F238E27FC236}">
                            <a16:creationId xmlns:a16="http://schemas.microsoft.com/office/drawing/2014/main" id="{17A97DFA-E476-4BA9-BED0-391C470CC7A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20024920" y="3712879"/>
                        <a:ext cx="0" cy="1118109"/>
                      </a:xfrm>
                      <a:prstGeom prst="line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99" name="Straight Connector 98">
                      <a:extLst>
                        <a:ext uri="{FF2B5EF4-FFF2-40B4-BE49-F238E27FC236}">
                          <a16:creationId xmlns:a16="http://schemas.microsoft.com/office/drawing/2014/main" id="{0DE93009-1D2F-49EC-9C68-799A392CEE5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7637760" y="3712879"/>
                      <a:ext cx="0" cy="1116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Straight Connector 102">
                      <a:extLst>
                        <a:ext uri="{FF2B5EF4-FFF2-40B4-BE49-F238E27FC236}">
                          <a16:creationId xmlns:a16="http://schemas.microsoft.com/office/drawing/2014/main" id="{6CFE584E-AB3D-4EE4-AEEB-919962F4900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7769840" y="3712879"/>
                      <a:ext cx="0" cy="1116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Straight Connector 103">
                      <a:extLst>
                        <a:ext uri="{FF2B5EF4-FFF2-40B4-BE49-F238E27FC236}">
                          <a16:creationId xmlns:a16="http://schemas.microsoft.com/office/drawing/2014/main" id="{8D729D94-EEEE-4932-A0E8-15FBCEC448F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8044863" y="3712879"/>
                      <a:ext cx="0" cy="1116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" name="Straight Connector 104">
                      <a:extLst>
                        <a:ext uri="{FF2B5EF4-FFF2-40B4-BE49-F238E27FC236}">
                          <a16:creationId xmlns:a16="http://schemas.microsoft.com/office/drawing/2014/main" id="{6A573713-17EC-45F0-B57C-9A6CC16B3DB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8400463" y="3712879"/>
                      <a:ext cx="0" cy="1116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" name="Straight Connector 105">
                      <a:extLst>
                        <a:ext uri="{FF2B5EF4-FFF2-40B4-BE49-F238E27FC236}">
                          <a16:creationId xmlns:a16="http://schemas.microsoft.com/office/drawing/2014/main" id="{7C3C97BE-76FC-4FE3-B2FE-14444D58AFD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8801783" y="3712879"/>
                      <a:ext cx="0" cy="1116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Straight Connector 107">
                      <a:extLst>
                        <a:ext uri="{FF2B5EF4-FFF2-40B4-BE49-F238E27FC236}">
                          <a16:creationId xmlns:a16="http://schemas.microsoft.com/office/drawing/2014/main" id="{D476BC53-ED64-4EDA-AC56-8EB88BC8AE0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177704" y="3712879"/>
                      <a:ext cx="0" cy="1116655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Straight Connector 108">
                      <a:extLst>
                        <a:ext uri="{FF2B5EF4-FFF2-40B4-BE49-F238E27FC236}">
                          <a16:creationId xmlns:a16="http://schemas.microsoft.com/office/drawing/2014/main" id="{DE1CF90C-E2A4-454B-8035-DD6A7DF1410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660303" y="3712879"/>
                      <a:ext cx="0" cy="1116656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Straight Connector 109">
                      <a:extLst>
                        <a:ext uri="{FF2B5EF4-FFF2-40B4-BE49-F238E27FC236}">
                          <a16:creationId xmlns:a16="http://schemas.microsoft.com/office/drawing/2014/main" id="{9055FFCB-9D8D-41BD-97AB-9EF6EDE0054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939703" y="3712879"/>
                      <a:ext cx="0" cy="1116656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70084967-5B90-4C89-B0C2-BF5CB7C0A296}"/>
                      </a:ext>
                    </a:extLst>
                  </p:cNvPr>
                  <p:cNvSpPr txBox="1"/>
                  <p:nvPr/>
                </p:nvSpPr>
                <p:spPr>
                  <a:xfrm>
                    <a:off x="18291943" y="1592130"/>
                    <a:ext cx="168138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>
                        <a:solidFill>
                          <a:schemeClr val="bg1"/>
                        </a:solidFill>
                      </a:rPr>
                      <a:t>OCTOBER2020</a:t>
                    </a:r>
                  </a:p>
                </p:txBody>
              </p:sp>
            </p:grp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A2E15F66-53A5-41AA-822C-385D7D8022D4}"/>
                    </a:ext>
                  </a:extLst>
                </p:cNvPr>
                <p:cNvCxnSpPr/>
                <p:nvPr/>
              </p:nvCxnSpPr>
              <p:spPr>
                <a:xfrm>
                  <a:off x="14780400" y="743654"/>
                  <a:ext cx="0" cy="7267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6758E35B-8626-45BB-BD59-AC28A32CFCDF}"/>
                    </a:ext>
                  </a:extLst>
                </p:cNvPr>
                <p:cNvCxnSpPr/>
                <p:nvPr/>
              </p:nvCxnSpPr>
              <p:spPr>
                <a:xfrm>
                  <a:off x="16022884" y="743654"/>
                  <a:ext cx="0" cy="7267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F10E03F-54FF-4444-A256-64E6E034E88C}"/>
              </a:ext>
            </a:extLst>
          </p:cNvPr>
          <p:cNvSpPr/>
          <p:nvPr/>
        </p:nvSpPr>
        <p:spPr>
          <a:xfrm>
            <a:off x="8151598" y="1843732"/>
            <a:ext cx="4085934" cy="7103531"/>
          </a:xfrm>
          <a:prstGeom prst="rect">
            <a:avLst/>
          </a:prstGeom>
          <a:solidFill>
            <a:schemeClr val="dk1">
              <a:alpha val="5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18">
            <a:extLst>
              <a:ext uri="{FF2B5EF4-FFF2-40B4-BE49-F238E27FC236}">
                <a16:creationId xmlns:a16="http://schemas.microsoft.com/office/drawing/2014/main" id="{A5BA1817-3DED-419B-80F0-BA3A39FE7467}"/>
              </a:ext>
            </a:extLst>
          </p:cNvPr>
          <p:cNvSpPr txBox="1"/>
          <p:nvPr/>
        </p:nvSpPr>
        <p:spPr>
          <a:xfrm>
            <a:off x="10395979" y="2154075"/>
            <a:ext cx="263467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endParaRPr lang="en-US" sz="2800" b="1" dirty="0">
              <a:solidFill>
                <a:schemeClr val="bg1"/>
              </a:solidFill>
              <a:latin typeface="Open Sans Extra Bold"/>
            </a:endParaRPr>
          </a:p>
        </p:txBody>
      </p:sp>
      <p:sp>
        <p:nvSpPr>
          <p:cNvPr id="73" name="TextBox 18">
            <a:extLst>
              <a:ext uri="{FF2B5EF4-FFF2-40B4-BE49-F238E27FC236}">
                <a16:creationId xmlns:a16="http://schemas.microsoft.com/office/drawing/2014/main" id="{A5BA1817-3DED-419B-80F0-BA3A39FE7467}"/>
              </a:ext>
            </a:extLst>
          </p:cNvPr>
          <p:cNvSpPr txBox="1"/>
          <p:nvPr/>
        </p:nvSpPr>
        <p:spPr>
          <a:xfrm>
            <a:off x="8657121" y="2108455"/>
            <a:ext cx="3136245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800" b="1" dirty="0" smtClean="0">
                <a:solidFill>
                  <a:schemeClr val="bg1"/>
                </a:solidFill>
                <a:latin typeface="Open Sans Extra Bold"/>
              </a:rPr>
              <a:t>Did you Know!</a:t>
            </a:r>
            <a:endParaRPr lang="en-US" sz="2800" b="1" dirty="0">
              <a:solidFill>
                <a:schemeClr val="bg1"/>
              </a:solidFill>
              <a:latin typeface="Open Sans Extra Bold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9F81081-0321-408B-9C6B-E5653BA43768}"/>
              </a:ext>
            </a:extLst>
          </p:cNvPr>
          <p:cNvSpPr txBox="1"/>
          <p:nvPr/>
        </p:nvSpPr>
        <p:spPr>
          <a:xfrm>
            <a:off x="8335547" y="2764917"/>
            <a:ext cx="3664237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692</a:t>
            </a:r>
            <a:r>
              <a:rPr lang="en-US" dirty="0" smtClean="0">
                <a:solidFill>
                  <a:schemeClr val="bg1"/>
                </a:solidFill>
              </a:rPr>
              <a:t> Leaders registered in the Lead Page.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20/20 challenge - …. Managers completed 20 hours of learning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LinkedIn Learning- </a:t>
            </a:r>
            <a:r>
              <a:rPr lang="en-US" dirty="0">
                <a:solidFill>
                  <a:schemeClr val="bg1"/>
                </a:solidFill>
              </a:rPr>
              <a:t>…. 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linkedIn</a:t>
            </a:r>
            <a:r>
              <a:rPr lang="en-US" dirty="0" smtClean="0">
                <a:solidFill>
                  <a:schemeClr val="bg1"/>
                </a:solidFill>
              </a:rPr>
              <a:t> Learning completed for…. Managers.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Live sessions - … sessions conducted for …. Manager so far.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13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FCA07FC384074C97B48C4EDACCA750" ma:contentTypeVersion="11" ma:contentTypeDescription="Create a new document." ma:contentTypeScope="" ma:versionID="8b83830cc88b7a3da0aae2c8024c6920">
  <xsd:schema xmlns:xsd="http://www.w3.org/2001/XMLSchema" xmlns:xs="http://www.w3.org/2001/XMLSchema" xmlns:p="http://schemas.microsoft.com/office/2006/metadata/properties" xmlns:ns3="942d6b7e-eb07-4f9c-bf1d-7227e93e762a" xmlns:ns4="2d44e0d8-bb60-414a-92b1-b00d072f0bf4" targetNamespace="http://schemas.microsoft.com/office/2006/metadata/properties" ma:root="true" ma:fieldsID="4a2a601938446d822954e87eecadf274" ns3:_="" ns4:_="">
    <xsd:import namespace="942d6b7e-eb07-4f9c-bf1d-7227e93e762a"/>
    <xsd:import namespace="2d44e0d8-bb60-414a-92b1-b00d072f0b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6b7e-eb07-4f9c-bf1d-7227e93e76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44e0d8-bb60-414a-92b1-b00d072f0bf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EFA772-849E-47F5-BA6B-9C048BFD60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6b7e-eb07-4f9c-bf1d-7227e93e762a"/>
    <ds:schemaRef ds:uri="2d44e0d8-bb60-414a-92b1-b00d072f0b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1D6883-6F3E-483F-87DA-9E67BC013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ACA62C-3E98-4ECE-B0D6-E2AA689886AA}">
  <ds:schemaRefs>
    <ds:schemaRef ds:uri="http://schemas.microsoft.com/office/2006/documentManagement/types"/>
    <ds:schemaRef ds:uri="942d6b7e-eb07-4f9c-bf1d-7227e93e762a"/>
    <ds:schemaRef ds:uri="http://purl.org/dc/elements/1.1/"/>
    <ds:schemaRef ds:uri="http://schemas.microsoft.com/office/2006/metadata/properties"/>
    <ds:schemaRef ds:uri="2d44e0d8-bb60-414a-92b1-b00d072f0bf4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</TotalTime>
  <Words>460</Words>
  <Application>Microsoft Office PowerPoint</Application>
  <PresentationFormat>Custom</PresentationFormat>
  <Paragraphs>81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Libre Baskerville Bold</vt:lpstr>
      <vt:lpstr>Libre Baskerville Italics</vt:lpstr>
      <vt:lpstr>Open Sans Bold</vt:lpstr>
      <vt:lpstr>Open Sans Extra Bold</vt:lpstr>
      <vt:lpstr>Rockwell</vt:lpstr>
      <vt:lpstr>Office Theme</vt:lpstr>
      <vt:lpstr>PowerPoint Presentation</vt:lpstr>
      <vt:lpstr>PowerPoint Presentation</vt:lpstr>
    </vt:vector>
  </TitlesOfParts>
  <Company>Alfuttaim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Ayman Mekawy</dc:creator>
  <cp:lastModifiedBy>Fatma Alsagaf</cp:lastModifiedBy>
  <cp:revision>21</cp:revision>
  <dcterms:created xsi:type="dcterms:W3CDTF">2020-09-30T11:41:55Z</dcterms:created>
  <dcterms:modified xsi:type="dcterms:W3CDTF">2020-10-05T08:35:59Z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0x01010099FCA07FC384074C97B48C4EDACCA750</vt:lpwstr>
  </property>
</Properties>
</file>